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4630400" cy="8229600"/>
  <p:notesSz cx="8229600" cy="14630400"/>
  <p:embeddedFontLst>
    <p:embeddedFont>
      <p:font typeface="Prata" panose="020B0604020202020204" charset="0"/>
      <p:regular r:id="rId11"/>
    </p:embeddedFont>
    <p:embeddedFont>
      <p:font typeface="Raleway" pitchFamily="2" charset="0"/>
      <p:regular r:id="rId12"/>
      <p:bold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44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7838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11.jpg"/><Relationship Id="rId3" Type="http://schemas.openxmlformats.org/officeDocument/2006/relationships/image" Target="../media/image6.jpg"/><Relationship Id="rId7" Type="http://schemas.openxmlformats.org/officeDocument/2006/relationships/image" Target="../media/image10.jp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4.jp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9144000" y="1153392"/>
            <a:ext cx="5486400" cy="5694608"/>
          </a:xfrm>
          <a:prstGeom prst="rect">
            <a:avLst/>
          </a:prstGeom>
        </p:spPr>
      </p:pic>
      <p:sp>
        <p:nvSpPr>
          <p:cNvPr id="3" name="Text 0"/>
          <p:cNvSpPr/>
          <p:nvPr/>
        </p:nvSpPr>
        <p:spPr>
          <a:xfrm>
            <a:off x="658178" y="1074182"/>
            <a:ext cx="7827645" cy="4054673"/>
          </a:xfrm>
          <a:prstGeom prst="rect">
            <a:avLst/>
          </a:prstGeom>
          <a:noFill/>
          <a:ln/>
        </p:spPr>
        <p:txBody>
          <a:bodyPr wrap="square" lIns="0" tIns="0" rIns="0" bIns="0" rtlCol="0" anchor="t"/>
          <a:lstStyle/>
          <a:p>
            <a:pPr marL="0" indent="0">
              <a:lnSpc>
                <a:spcPts val="6350"/>
              </a:lnSpc>
              <a:buNone/>
            </a:pPr>
            <a:r>
              <a:rPr lang="en-US" sz="5100" dirty="0">
                <a:solidFill>
                  <a:srgbClr val="F2E782"/>
                </a:solidFill>
                <a:latin typeface="Prata" pitchFamily="34" charset="0"/>
                <a:ea typeface="Prata" pitchFamily="34" charset="-122"/>
                <a:cs typeface="Prata" pitchFamily="34" charset="-120"/>
              </a:rPr>
              <a:t>Community Development: Volunteer Service at Guru Nanak Netarheen Bridh Ashram</a:t>
            </a:r>
            <a:endParaRPr lang="en-US" sz="5100" dirty="0"/>
          </a:p>
        </p:txBody>
      </p:sp>
      <p:sp>
        <p:nvSpPr>
          <p:cNvPr id="4" name="Text 1"/>
          <p:cNvSpPr/>
          <p:nvPr/>
        </p:nvSpPr>
        <p:spPr>
          <a:xfrm>
            <a:off x="658178" y="5410914"/>
            <a:ext cx="7827645" cy="1203960"/>
          </a:xfrm>
          <a:prstGeom prst="rect">
            <a:avLst/>
          </a:prstGeom>
          <a:noFill/>
          <a:ln/>
        </p:spPr>
        <p:txBody>
          <a:bodyPr wrap="square" lIns="0" tIns="0" rIns="0" bIns="0" rtlCol="0" anchor="t"/>
          <a:lstStyle/>
          <a:p>
            <a:pPr marL="0" indent="0">
              <a:lnSpc>
                <a:spcPts val="2350"/>
              </a:lnSpc>
              <a:buNone/>
            </a:pPr>
            <a:r>
              <a:rPr lang="en-US" sz="1450" dirty="0">
                <a:solidFill>
                  <a:srgbClr val="CFCBBF"/>
                </a:solidFill>
                <a:latin typeface="Raleway" pitchFamily="34" charset="0"/>
                <a:ea typeface="Raleway" pitchFamily="34" charset="-122"/>
                <a:cs typeface="Raleway" pitchFamily="34" charset="-120"/>
              </a:rPr>
              <a:t>This report documents the problems and underlying causes observed during volunteer service at Guru Nanak Netarheen Bridh Ashram, the set objectives for the volunteer project, the meticulous steps that should be undertaken to realize these objectives, and a comprehensive evaluation of the project's overall effectiveness.</a:t>
            </a:r>
            <a:endParaRPr lang="en-US" sz="1450" dirty="0"/>
          </a:p>
        </p:txBody>
      </p:sp>
      <p:sp>
        <p:nvSpPr>
          <p:cNvPr id="5" name="Shape 2"/>
          <p:cNvSpPr/>
          <p:nvPr/>
        </p:nvSpPr>
        <p:spPr>
          <a:xfrm>
            <a:off x="658178" y="6840379"/>
            <a:ext cx="300871" cy="300871"/>
          </a:xfrm>
          <a:prstGeom prst="roundRect">
            <a:avLst>
              <a:gd name="adj" fmla="val 30388723"/>
            </a:avLst>
          </a:prstGeom>
          <a:noFill/>
          <a:ln w="7620">
            <a:solidFill>
              <a:srgbClr val="FFFFFF"/>
            </a:solidFill>
            <a:prstDash val="solid"/>
          </a:ln>
        </p:spPr>
        <p:txBody>
          <a:bodyPr/>
          <a:lstStyle/>
          <a:p>
            <a:endParaRPr lang="en-IN"/>
          </a:p>
        </p:txBody>
      </p:sp>
      <p:sp>
        <p:nvSpPr>
          <p:cNvPr id="7" name="Text 3"/>
          <p:cNvSpPr/>
          <p:nvPr/>
        </p:nvSpPr>
        <p:spPr>
          <a:xfrm>
            <a:off x="1052989" y="6826448"/>
            <a:ext cx="2059900" cy="328970"/>
          </a:xfrm>
          <a:prstGeom prst="rect">
            <a:avLst/>
          </a:prstGeom>
          <a:noFill/>
          <a:ln/>
        </p:spPr>
        <p:txBody>
          <a:bodyPr wrap="none" lIns="0" tIns="0" rIns="0" bIns="0" rtlCol="0" anchor="t"/>
          <a:lstStyle/>
          <a:p>
            <a:pPr marL="0" indent="0" algn="l">
              <a:lnSpc>
                <a:spcPts val="2550"/>
              </a:lnSpc>
              <a:buNone/>
            </a:pPr>
            <a:r>
              <a:rPr lang="en-US" sz="1850" b="1" dirty="0">
                <a:solidFill>
                  <a:srgbClr val="CFCBBF"/>
                </a:solidFill>
                <a:latin typeface="Raleway" pitchFamily="34" charset="0"/>
                <a:ea typeface="Raleway" pitchFamily="34" charset="-122"/>
                <a:cs typeface="Raleway" pitchFamily="34" charset="-120"/>
              </a:rPr>
              <a:t>by Kola Bocoum</a:t>
            </a:r>
            <a:endParaRPr lang="en-US" sz="1850" dirty="0"/>
          </a:p>
        </p:txBody>
      </p:sp>
      <p:sp>
        <p:nvSpPr>
          <p:cNvPr id="8" name="Rectangle 7">
            <a:extLst>
              <a:ext uri="{FF2B5EF4-FFF2-40B4-BE49-F238E27FC236}">
                <a16:creationId xmlns:a16="http://schemas.microsoft.com/office/drawing/2014/main" id="{8757A2AC-B81B-6EE5-DC25-277DD6874FF2}"/>
              </a:ext>
            </a:extLst>
          </p:cNvPr>
          <p:cNvSpPr/>
          <p:nvPr/>
        </p:nvSpPr>
        <p:spPr>
          <a:xfrm>
            <a:off x="12889735" y="7821976"/>
            <a:ext cx="1608463" cy="26440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By BOCOUM</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9429062" y="1156771"/>
            <a:ext cx="4916276" cy="6555035"/>
          </a:xfrm>
          <a:prstGeom prst="rect">
            <a:avLst/>
          </a:prstGeom>
        </p:spPr>
      </p:pic>
      <p:sp>
        <p:nvSpPr>
          <p:cNvPr id="3" name="Text 0"/>
          <p:cNvSpPr/>
          <p:nvPr/>
        </p:nvSpPr>
        <p:spPr>
          <a:xfrm>
            <a:off x="758309" y="942261"/>
            <a:ext cx="5637728" cy="676989"/>
          </a:xfrm>
          <a:prstGeom prst="rect">
            <a:avLst/>
          </a:prstGeom>
          <a:noFill/>
          <a:ln/>
        </p:spPr>
        <p:txBody>
          <a:bodyPr wrap="none" lIns="0" tIns="0" rIns="0" bIns="0" rtlCol="0" anchor="t"/>
          <a:lstStyle/>
          <a:p>
            <a:pPr marL="0" indent="0">
              <a:lnSpc>
                <a:spcPts val="5300"/>
              </a:lnSpc>
              <a:buNone/>
            </a:pPr>
            <a:r>
              <a:rPr lang="en-US" sz="4250" dirty="0">
                <a:solidFill>
                  <a:srgbClr val="F2E782"/>
                </a:solidFill>
                <a:latin typeface="Prata" pitchFamily="34" charset="0"/>
                <a:ea typeface="Prata" pitchFamily="34" charset="-122"/>
                <a:cs typeface="Prata" pitchFamily="34" charset="-120"/>
              </a:rPr>
              <a:t>Problems and Causes</a:t>
            </a:r>
            <a:endParaRPr lang="en-US" sz="4250" dirty="0"/>
          </a:p>
        </p:txBody>
      </p:sp>
      <p:sp>
        <p:nvSpPr>
          <p:cNvPr id="4" name="Shape 1"/>
          <p:cNvSpPr/>
          <p:nvPr/>
        </p:nvSpPr>
        <p:spPr>
          <a:xfrm>
            <a:off x="758309" y="2187893"/>
            <a:ext cx="487442" cy="487442"/>
          </a:xfrm>
          <a:prstGeom prst="roundRect">
            <a:avLst>
              <a:gd name="adj" fmla="val 6667"/>
            </a:avLst>
          </a:prstGeom>
          <a:solidFill>
            <a:srgbClr val="3A3B3C"/>
          </a:solidFill>
          <a:ln/>
        </p:spPr>
        <p:txBody>
          <a:bodyPr/>
          <a:lstStyle/>
          <a:p>
            <a:endParaRPr lang="en-IN"/>
          </a:p>
        </p:txBody>
      </p:sp>
      <p:sp>
        <p:nvSpPr>
          <p:cNvPr id="5" name="Text 2"/>
          <p:cNvSpPr/>
          <p:nvPr/>
        </p:nvSpPr>
        <p:spPr>
          <a:xfrm>
            <a:off x="945952" y="2269093"/>
            <a:ext cx="112157" cy="325041"/>
          </a:xfrm>
          <a:prstGeom prst="rect">
            <a:avLst/>
          </a:prstGeom>
          <a:noFill/>
          <a:ln/>
        </p:spPr>
        <p:txBody>
          <a:bodyPr wrap="none" lIns="0" tIns="0" rIns="0" bIns="0" rtlCol="0" anchor="t"/>
          <a:lstStyle/>
          <a:p>
            <a:pPr marL="0" indent="0" algn="ctr">
              <a:lnSpc>
                <a:spcPts val="2550"/>
              </a:lnSpc>
              <a:buNone/>
            </a:pPr>
            <a:r>
              <a:rPr lang="en-US" sz="2550" dirty="0">
                <a:solidFill>
                  <a:srgbClr val="CFCBBF"/>
                </a:solidFill>
                <a:latin typeface="Prata" pitchFamily="34" charset="0"/>
                <a:ea typeface="Prata" pitchFamily="34" charset="-122"/>
                <a:cs typeface="Prata" pitchFamily="34" charset="-120"/>
              </a:rPr>
              <a:t>1</a:t>
            </a:r>
            <a:endParaRPr lang="en-US" sz="2550" dirty="0"/>
          </a:p>
        </p:txBody>
      </p:sp>
      <p:sp>
        <p:nvSpPr>
          <p:cNvPr id="6" name="Text 3"/>
          <p:cNvSpPr/>
          <p:nvPr/>
        </p:nvSpPr>
        <p:spPr>
          <a:xfrm>
            <a:off x="1462326" y="2187893"/>
            <a:ext cx="2708315" cy="338495"/>
          </a:xfrm>
          <a:prstGeom prst="rect">
            <a:avLst/>
          </a:prstGeom>
          <a:noFill/>
          <a:ln/>
        </p:spPr>
        <p:txBody>
          <a:bodyPr wrap="none" lIns="0" tIns="0" rIns="0" bIns="0" rtlCol="0" anchor="t"/>
          <a:lstStyle/>
          <a:p>
            <a:pPr marL="0" indent="0">
              <a:lnSpc>
                <a:spcPts val="2650"/>
              </a:lnSpc>
              <a:buNone/>
            </a:pPr>
            <a:r>
              <a:rPr lang="en-US" sz="2100" dirty="0">
                <a:solidFill>
                  <a:srgbClr val="CFCBBF"/>
                </a:solidFill>
                <a:latin typeface="Prata" pitchFamily="34" charset="0"/>
                <a:ea typeface="Prata" pitchFamily="34" charset="-122"/>
                <a:cs typeface="Prata" pitchFamily="34" charset="-120"/>
              </a:rPr>
              <a:t>Lack of Accessibility</a:t>
            </a:r>
            <a:endParaRPr lang="en-US" sz="2100" dirty="0"/>
          </a:p>
        </p:txBody>
      </p:sp>
      <p:sp>
        <p:nvSpPr>
          <p:cNvPr id="7" name="Text 4"/>
          <p:cNvSpPr/>
          <p:nvPr/>
        </p:nvSpPr>
        <p:spPr>
          <a:xfrm>
            <a:off x="1462326" y="2656284"/>
            <a:ext cx="6923365" cy="693420"/>
          </a:xfrm>
          <a:prstGeom prst="rect">
            <a:avLst/>
          </a:prstGeom>
          <a:noFill/>
          <a:ln/>
        </p:spPr>
        <p:txBody>
          <a:bodyPr wrap="square" lIns="0" tIns="0" rIns="0" bIns="0" rtlCol="0" anchor="t"/>
          <a:lstStyle/>
          <a:p>
            <a:pPr marL="0" indent="0">
              <a:lnSpc>
                <a:spcPts val="2700"/>
              </a:lnSpc>
              <a:buNone/>
            </a:pPr>
            <a:r>
              <a:rPr lang="en-US" sz="1700" dirty="0">
                <a:solidFill>
                  <a:srgbClr val="CFCBBF"/>
                </a:solidFill>
                <a:latin typeface="Raleway" pitchFamily="34" charset="0"/>
                <a:ea typeface="Raleway" pitchFamily="34" charset="-122"/>
                <a:cs typeface="Raleway" pitchFamily="34" charset="-120"/>
              </a:rPr>
              <a:t>The physical infrastructure of GURU NANAK is not adequately adapted to cater to the unique needs of visually impaired residents.</a:t>
            </a:r>
            <a:endParaRPr lang="en-US" sz="1700" dirty="0"/>
          </a:p>
        </p:txBody>
      </p:sp>
      <p:sp>
        <p:nvSpPr>
          <p:cNvPr id="8" name="Shape 5"/>
          <p:cNvSpPr/>
          <p:nvPr/>
        </p:nvSpPr>
        <p:spPr>
          <a:xfrm>
            <a:off x="758309" y="3810000"/>
            <a:ext cx="487442" cy="487442"/>
          </a:xfrm>
          <a:prstGeom prst="roundRect">
            <a:avLst>
              <a:gd name="adj" fmla="val 6667"/>
            </a:avLst>
          </a:prstGeom>
          <a:solidFill>
            <a:srgbClr val="3A3B3C"/>
          </a:solidFill>
          <a:ln/>
        </p:spPr>
        <p:txBody>
          <a:bodyPr/>
          <a:lstStyle/>
          <a:p>
            <a:endParaRPr lang="en-IN"/>
          </a:p>
        </p:txBody>
      </p:sp>
      <p:sp>
        <p:nvSpPr>
          <p:cNvPr id="9" name="Text 6"/>
          <p:cNvSpPr/>
          <p:nvPr/>
        </p:nvSpPr>
        <p:spPr>
          <a:xfrm>
            <a:off x="902375" y="3891201"/>
            <a:ext cx="199192" cy="325041"/>
          </a:xfrm>
          <a:prstGeom prst="rect">
            <a:avLst/>
          </a:prstGeom>
          <a:noFill/>
          <a:ln/>
        </p:spPr>
        <p:txBody>
          <a:bodyPr wrap="none" lIns="0" tIns="0" rIns="0" bIns="0" rtlCol="0" anchor="t"/>
          <a:lstStyle/>
          <a:p>
            <a:pPr marL="0" indent="0" algn="ctr">
              <a:lnSpc>
                <a:spcPts val="2550"/>
              </a:lnSpc>
              <a:buNone/>
            </a:pPr>
            <a:r>
              <a:rPr lang="en-US" sz="2550" dirty="0">
                <a:solidFill>
                  <a:srgbClr val="CFCBBF"/>
                </a:solidFill>
                <a:latin typeface="Prata" pitchFamily="34" charset="0"/>
                <a:ea typeface="Prata" pitchFamily="34" charset="-122"/>
                <a:cs typeface="Prata" pitchFamily="34" charset="-120"/>
              </a:rPr>
              <a:t>2</a:t>
            </a:r>
            <a:endParaRPr lang="en-US" sz="2550" dirty="0"/>
          </a:p>
        </p:txBody>
      </p:sp>
      <p:sp>
        <p:nvSpPr>
          <p:cNvPr id="10" name="Text 7"/>
          <p:cNvSpPr/>
          <p:nvPr/>
        </p:nvSpPr>
        <p:spPr>
          <a:xfrm>
            <a:off x="1462326" y="3810000"/>
            <a:ext cx="2708315" cy="338495"/>
          </a:xfrm>
          <a:prstGeom prst="rect">
            <a:avLst/>
          </a:prstGeom>
          <a:noFill/>
          <a:ln/>
        </p:spPr>
        <p:txBody>
          <a:bodyPr wrap="none" lIns="0" tIns="0" rIns="0" bIns="0" rtlCol="0" anchor="t"/>
          <a:lstStyle/>
          <a:p>
            <a:pPr marL="0" indent="0">
              <a:lnSpc>
                <a:spcPts val="2650"/>
              </a:lnSpc>
              <a:buNone/>
            </a:pPr>
            <a:r>
              <a:rPr lang="en-US" sz="2100" dirty="0">
                <a:solidFill>
                  <a:srgbClr val="CFCBBF"/>
                </a:solidFill>
                <a:latin typeface="Prata" pitchFamily="34" charset="0"/>
                <a:ea typeface="Prata" pitchFamily="34" charset="-122"/>
                <a:cs typeface="Prata" pitchFamily="34" charset="-120"/>
              </a:rPr>
              <a:t>Social Isolation</a:t>
            </a:r>
            <a:endParaRPr lang="en-US" sz="2100" dirty="0"/>
          </a:p>
        </p:txBody>
      </p:sp>
      <p:sp>
        <p:nvSpPr>
          <p:cNvPr id="11" name="Text 8"/>
          <p:cNvSpPr/>
          <p:nvPr/>
        </p:nvSpPr>
        <p:spPr>
          <a:xfrm>
            <a:off x="1462326" y="4278392"/>
            <a:ext cx="6923365" cy="1040130"/>
          </a:xfrm>
          <a:prstGeom prst="rect">
            <a:avLst/>
          </a:prstGeom>
          <a:noFill/>
          <a:ln/>
        </p:spPr>
        <p:txBody>
          <a:bodyPr wrap="square" lIns="0" tIns="0" rIns="0" bIns="0" rtlCol="0" anchor="t"/>
          <a:lstStyle/>
          <a:p>
            <a:pPr marL="0" indent="0">
              <a:lnSpc>
                <a:spcPts val="2700"/>
              </a:lnSpc>
              <a:buNone/>
            </a:pPr>
            <a:r>
              <a:rPr lang="en-US" sz="1700" dirty="0">
                <a:solidFill>
                  <a:srgbClr val="CFCBBF"/>
                </a:solidFill>
                <a:latin typeface="Raleway" pitchFamily="34" charset="0"/>
                <a:ea typeface="Raleway" pitchFamily="34" charset="-122"/>
                <a:cs typeface="Raleway" pitchFamily="34" charset="-120"/>
              </a:rPr>
              <a:t>Many residents expressed a sense of social isolation, stemming from the absence of inclusive activities and opportunities for communal interaction.</a:t>
            </a:r>
            <a:endParaRPr lang="en-US" sz="1700" dirty="0"/>
          </a:p>
        </p:txBody>
      </p:sp>
      <p:sp>
        <p:nvSpPr>
          <p:cNvPr id="12" name="Shape 9"/>
          <p:cNvSpPr/>
          <p:nvPr/>
        </p:nvSpPr>
        <p:spPr>
          <a:xfrm>
            <a:off x="758309" y="5778817"/>
            <a:ext cx="487442" cy="487442"/>
          </a:xfrm>
          <a:prstGeom prst="roundRect">
            <a:avLst>
              <a:gd name="adj" fmla="val 6667"/>
            </a:avLst>
          </a:prstGeom>
          <a:solidFill>
            <a:srgbClr val="3A3B3C"/>
          </a:solidFill>
          <a:ln/>
        </p:spPr>
        <p:txBody>
          <a:bodyPr/>
          <a:lstStyle/>
          <a:p>
            <a:endParaRPr lang="en-IN"/>
          </a:p>
        </p:txBody>
      </p:sp>
      <p:sp>
        <p:nvSpPr>
          <p:cNvPr id="13" name="Text 10"/>
          <p:cNvSpPr/>
          <p:nvPr/>
        </p:nvSpPr>
        <p:spPr>
          <a:xfrm>
            <a:off x="901303" y="5860018"/>
            <a:ext cx="201454" cy="325041"/>
          </a:xfrm>
          <a:prstGeom prst="rect">
            <a:avLst/>
          </a:prstGeom>
          <a:noFill/>
          <a:ln/>
        </p:spPr>
        <p:txBody>
          <a:bodyPr wrap="none" lIns="0" tIns="0" rIns="0" bIns="0" rtlCol="0" anchor="t"/>
          <a:lstStyle/>
          <a:p>
            <a:pPr marL="0" indent="0" algn="ctr">
              <a:lnSpc>
                <a:spcPts val="2550"/>
              </a:lnSpc>
              <a:buNone/>
            </a:pPr>
            <a:r>
              <a:rPr lang="en-US" sz="2550" dirty="0">
                <a:solidFill>
                  <a:srgbClr val="CFCBBF"/>
                </a:solidFill>
                <a:latin typeface="Prata" pitchFamily="34" charset="0"/>
                <a:ea typeface="Prata" pitchFamily="34" charset="-122"/>
                <a:cs typeface="Prata" pitchFamily="34" charset="-120"/>
              </a:rPr>
              <a:t>3</a:t>
            </a:r>
            <a:endParaRPr lang="en-US" sz="2550" dirty="0"/>
          </a:p>
        </p:txBody>
      </p:sp>
      <p:sp>
        <p:nvSpPr>
          <p:cNvPr id="14" name="Text 11"/>
          <p:cNvSpPr/>
          <p:nvPr/>
        </p:nvSpPr>
        <p:spPr>
          <a:xfrm>
            <a:off x="1462326" y="5778817"/>
            <a:ext cx="2841784" cy="338495"/>
          </a:xfrm>
          <a:prstGeom prst="rect">
            <a:avLst/>
          </a:prstGeom>
          <a:noFill/>
          <a:ln/>
        </p:spPr>
        <p:txBody>
          <a:bodyPr wrap="none" lIns="0" tIns="0" rIns="0" bIns="0" rtlCol="0" anchor="t"/>
          <a:lstStyle/>
          <a:p>
            <a:pPr marL="0" indent="0">
              <a:lnSpc>
                <a:spcPts val="2650"/>
              </a:lnSpc>
              <a:buNone/>
            </a:pPr>
            <a:r>
              <a:rPr lang="en-US" sz="2100" dirty="0">
                <a:solidFill>
                  <a:srgbClr val="CFCBBF"/>
                </a:solidFill>
                <a:latin typeface="Prata" pitchFamily="34" charset="0"/>
                <a:ea typeface="Prata" pitchFamily="34" charset="-122"/>
                <a:cs typeface="Prata" pitchFamily="34" charset="-120"/>
              </a:rPr>
              <a:t>Emotional Well-Being</a:t>
            </a:r>
            <a:endParaRPr lang="en-US" sz="2100" dirty="0"/>
          </a:p>
        </p:txBody>
      </p:sp>
      <p:sp>
        <p:nvSpPr>
          <p:cNvPr id="15" name="Text 12"/>
          <p:cNvSpPr/>
          <p:nvPr/>
        </p:nvSpPr>
        <p:spPr>
          <a:xfrm>
            <a:off x="1462326" y="6247209"/>
            <a:ext cx="6923365" cy="1040130"/>
          </a:xfrm>
          <a:prstGeom prst="rect">
            <a:avLst/>
          </a:prstGeom>
          <a:noFill/>
          <a:ln/>
        </p:spPr>
        <p:txBody>
          <a:bodyPr wrap="square" lIns="0" tIns="0" rIns="0" bIns="0" rtlCol="0" anchor="t"/>
          <a:lstStyle/>
          <a:p>
            <a:pPr marL="0" indent="0">
              <a:lnSpc>
                <a:spcPts val="2700"/>
              </a:lnSpc>
              <a:buNone/>
            </a:pPr>
            <a:r>
              <a:rPr lang="en-US" sz="1700" dirty="0">
                <a:solidFill>
                  <a:srgbClr val="CFCBBF"/>
                </a:solidFill>
                <a:latin typeface="Raleway" pitchFamily="34" charset="0"/>
                <a:ea typeface="Raleway" pitchFamily="34" charset="-122"/>
                <a:cs typeface="Raleway" pitchFamily="34" charset="-120"/>
              </a:rPr>
              <a:t>A significant number of residents display signs of emotional distress, loneliness, and even depression, which were exacerbated by their visual impairment and the resultant limitations.</a:t>
            </a:r>
            <a:endParaRPr lang="en-US" sz="1700" dirty="0"/>
          </a:p>
        </p:txBody>
      </p:sp>
      <p:sp>
        <p:nvSpPr>
          <p:cNvPr id="16" name="Rectangle 15">
            <a:extLst>
              <a:ext uri="{FF2B5EF4-FFF2-40B4-BE49-F238E27FC236}">
                <a16:creationId xmlns:a16="http://schemas.microsoft.com/office/drawing/2014/main" id="{489A0CFB-92B8-6BF5-1AD6-47A6BA965E79}"/>
              </a:ext>
            </a:extLst>
          </p:cNvPr>
          <p:cNvSpPr/>
          <p:nvPr/>
        </p:nvSpPr>
        <p:spPr>
          <a:xfrm>
            <a:off x="12922786" y="7844010"/>
            <a:ext cx="1575412" cy="24237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By BOCOUM</a:t>
            </a:r>
            <a:endParaRPr lang="en-IN"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3716893" y="1018324"/>
            <a:ext cx="7196614" cy="707469"/>
          </a:xfrm>
          <a:prstGeom prst="rect">
            <a:avLst/>
          </a:prstGeom>
          <a:noFill/>
          <a:ln/>
        </p:spPr>
        <p:txBody>
          <a:bodyPr wrap="none" lIns="0" tIns="0" rIns="0" bIns="0" rtlCol="0" anchor="t"/>
          <a:lstStyle/>
          <a:p>
            <a:pPr marL="0" indent="0">
              <a:lnSpc>
                <a:spcPts val="5550"/>
              </a:lnSpc>
              <a:buNone/>
            </a:pPr>
            <a:r>
              <a:rPr lang="en-US" sz="4450" dirty="0">
                <a:solidFill>
                  <a:srgbClr val="F2E782"/>
                </a:solidFill>
                <a:latin typeface="Prata" pitchFamily="34" charset="0"/>
                <a:ea typeface="Prata" pitchFamily="34" charset="-122"/>
                <a:cs typeface="Prata" pitchFamily="34" charset="-120"/>
              </a:rPr>
              <a:t>Objectives To Be Achieved</a:t>
            </a:r>
            <a:endParaRPr lang="en-US" sz="4450" dirty="0"/>
          </a:p>
        </p:txBody>
      </p:sp>
      <p:sp>
        <p:nvSpPr>
          <p:cNvPr id="4" name="Shape 1"/>
          <p:cNvSpPr/>
          <p:nvPr/>
        </p:nvSpPr>
        <p:spPr>
          <a:xfrm>
            <a:off x="663158" y="4500086"/>
            <a:ext cx="4197668" cy="3106222"/>
          </a:xfrm>
          <a:prstGeom prst="roundRect">
            <a:avLst>
              <a:gd name="adj" fmla="val 1093"/>
            </a:avLst>
          </a:prstGeom>
          <a:solidFill>
            <a:srgbClr val="3A3B3C"/>
          </a:solidFill>
          <a:ln/>
        </p:spPr>
        <p:txBody>
          <a:bodyPr/>
          <a:lstStyle/>
          <a:p>
            <a:endParaRPr lang="en-IN"/>
          </a:p>
        </p:txBody>
      </p:sp>
      <p:sp>
        <p:nvSpPr>
          <p:cNvPr id="5" name="Text 2"/>
          <p:cNvSpPr/>
          <p:nvPr/>
        </p:nvSpPr>
        <p:spPr>
          <a:xfrm>
            <a:off x="1018699" y="4726424"/>
            <a:ext cx="2972157" cy="353735"/>
          </a:xfrm>
          <a:prstGeom prst="rect">
            <a:avLst/>
          </a:prstGeom>
          <a:noFill/>
          <a:ln/>
        </p:spPr>
        <p:txBody>
          <a:bodyPr wrap="none" lIns="0" tIns="0" rIns="0" bIns="0" rtlCol="0" anchor="t"/>
          <a:lstStyle/>
          <a:p>
            <a:pPr marL="0" indent="0">
              <a:lnSpc>
                <a:spcPts val="2750"/>
              </a:lnSpc>
              <a:buNone/>
            </a:pPr>
            <a:r>
              <a:rPr lang="en-US" sz="2200" dirty="0">
                <a:solidFill>
                  <a:srgbClr val="CFCBBF"/>
                </a:solidFill>
                <a:latin typeface="Prata" pitchFamily="34" charset="0"/>
                <a:ea typeface="Prata" pitchFamily="34" charset="-122"/>
                <a:cs typeface="Prata" pitchFamily="34" charset="-120"/>
              </a:rPr>
              <a:t>Enhance Accessibility</a:t>
            </a:r>
            <a:endParaRPr lang="en-US" sz="2200" dirty="0"/>
          </a:p>
        </p:txBody>
      </p:sp>
      <p:sp>
        <p:nvSpPr>
          <p:cNvPr id="6" name="Text 3"/>
          <p:cNvSpPr/>
          <p:nvPr/>
        </p:nvSpPr>
        <p:spPr>
          <a:xfrm>
            <a:off x="1018699" y="5215890"/>
            <a:ext cx="3744992" cy="1810345"/>
          </a:xfrm>
          <a:prstGeom prst="rect">
            <a:avLst/>
          </a:prstGeom>
          <a:noFill/>
          <a:ln/>
        </p:spPr>
        <p:txBody>
          <a:bodyPr wrap="square" lIns="0" tIns="0" rIns="0" bIns="0" rtlCol="0" anchor="t"/>
          <a:lstStyle/>
          <a:p>
            <a:pPr marL="0" indent="0">
              <a:lnSpc>
                <a:spcPts val="2850"/>
              </a:lnSpc>
              <a:buNone/>
            </a:pPr>
            <a:r>
              <a:rPr lang="en-US" sz="1750" dirty="0">
                <a:solidFill>
                  <a:srgbClr val="CFCBBF"/>
                </a:solidFill>
                <a:latin typeface="Raleway" pitchFamily="34" charset="0"/>
                <a:ea typeface="Raleway" pitchFamily="34" charset="-122"/>
                <a:cs typeface="Raleway" pitchFamily="34" charset="-120"/>
              </a:rPr>
              <a:t>Implement modifications to the physical environment to create a seamlessly accessible and navigable space for the visually impaired residents.</a:t>
            </a:r>
            <a:endParaRPr lang="en-US" sz="1750" dirty="0"/>
          </a:p>
        </p:txBody>
      </p:sp>
      <p:sp>
        <p:nvSpPr>
          <p:cNvPr id="7" name="Shape 4"/>
          <p:cNvSpPr/>
          <p:nvPr/>
        </p:nvSpPr>
        <p:spPr>
          <a:xfrm>
            <a:off x="5216366" y="4500086"/>
            <a:ext cx="4197668" cy="3106222"/>
          </a:xfrm>
          <a:prstGeom prst="roundRect">
            <a:avLst>
              <a:gd name="adj" fmla="val 1093"/>
            </a:avLst>
          </a:prstGeom>
          <a:solidFill>
            <a:srgbClr val="3A3B3C"/>
          </a:solidFill>
          <a:ln/>
        </p:spPr>
        <p:txBody>
          <a:bodyPr/>
          <a:lstStyle/>
          <a:p>
            <a:endParaRPr lang="en-IN"/>
          </a:p>
        </p:txBody>
      </p:sp>
      <p:sp>
        <p:nvSpPr>
          <p:cNvPr id="8" name="Text 5"/>
          <p:cNvSpPr/>
          <p:nvPr/>
        </p:nvSpPr>
        <p:spPr>
          <a:xfrm>
            <a:off x="5442704" y="4726424"/>
            <a:ext cx="3108246" cy="353735"/>
          </a:xfrm>
          <a:prstGeom prst="rect">
            <a:avLst/>
          </a:prstGeom>
          <a:noFill/>
          <a:ln/>
        </p:spPr>
        <p:txBody>
          <a:bodyPr wrap="none" lIns="0" tIns="0" rIns="0" bIns="0" rtlCol="0" anchor="t"/>
          <a:lstStyle/>
          <a:p>
            <a:pPr marL="0" indent="0">
              <a:lnSpc>
                <a:spcPts val="2750"/>
              </a:lnSpc>
              <a:buNone/>
            </a:pPr>
            <a:r>
              <a:rPr lang="en-US" sz="2200" dirty="0">
                <a:solidFill>
                  <a:srgbClr val="CFCBBF"/>
                </a:solidFill>
                <a:latin typeface="Prata" pitchFamily="34" charset="0"/>
                <a:ea typeface="Prata" pitchFamily="34" charset="-122"/>
                <a:cs typeface="Prata" pitchFamily="34" charset="-120"/>
              </a:rPr>
              <a:t>Foster Social Inclusion</a:t>
            </a:r>
            <a:endParaRPr lang="en-US" sz="2200" dirty="0"/>
          </a:p>
        </p:txBody>
      </p:sp>
      <p:sp>
        <p:nvSpPr>
          <p:cNvPr id="9" name="Text 6"/>
          <p:cNvSpPr/>
          <p:nvPr/>
        </p:nvSpPr>
        <p:spPr>
          <a:xfrm>
            <a:off x="5442704" y="5215890"/>
            <a:ext cx="3744992" cy="1810345"/>
          </a:xfrm>
          <a:prstGeom prst="rect">
            <a:avLst/>
          </a:prstGeom>
          <a:noFill/>
          <a:ln/>
        </p:spPr>
        <p:txBody>
          <a:bodyPr wrap="square" lIns="0" tIns="0" rIns="0" bIns="0" rtlCol="0" anchor="t"/>
          <a:lstStyle/>
          <a:p>
            <a:pPr marL="0" indent="0">
              <a:lnSpc>
                <a:spcPts val="2850"/>
              </a:lnSpc>
              <a:buNone/>
            </a:pPr>
            <a:r>
              <a:rPr lang="en-US" sz="1750" dirty="0">
                <a:solidFill>
                  <a:srgbClr val="CFCBBF"/>
                </a:solidFill>
                <a:latin typeface="Raleway" pitchFamily="34" charset="0"/>
                <a:ea typeface="Raleway" pitchFamily="34" charset="-122"/>
                <a:cs typeface="Raleway" pitchFamily="34" charset="-120"/>
              </a:rPr>
              <a:t>Devise and execute a range of activities and events that actively encourage social interaction, engagement, and a sense of community among the residents.</a:t>
            </a:r>
            <a:endParaRPr lang="en-US" sz="1750" dirty="0"/>
          </a:p>
        </p:txBody>
      </p:sp>
      <p:sp>
        <p:nvSpPr>
          <p:cNvPr id="10" name="Shape 7"/>
          <p:cNvSpPr/>
          <p:nvPr/>
        </p:nvSpPr>
        <p:spPr>
          <a:xfrm>
            <a:off x="9640372" y="4500086"/>
            <a:ext cx="4197668" cy="3106222"/>
          </a:xfrm>
          <a:prstGeom prst="roundRect">
            <a:avLst>
              <a:gd name="adj" fmla="val 1093"/>
            </a:avLst>
          </a:prstGeom>
          <a:solidFill>
            <a:srgbClr val="3A3B3C"/>
          </a:solidFill>
          <a:ln/>
        </p:spPr>
        <p:txBody>
          <a:bodyPr/>
          <a:lstStyle/>
          <a:p>
            <a:endParaRPr lang="en-IN"/>
          </a:p>
        </p:txBody>
      </p:sp>
      <p:sp>
        <p:nvSpPr>
          <p:cNvPr id="11" name="Text 8"/>
          <p:cNvSpPr/>
          <p:nvPr/>
        </p:nvSpPr>
        <p:spPr>
          <a:xfrm>
            <a:off x="9866709" y="4726424"/>
            <a:ext cx="3744992" cy="707469"/>
          </a:xfrm>
          <a:prstGeom prst="rect">
            <a:avLst/>
          </a:prstGeom>
          <a:noFill/>
          <a:ln/>
        </p:spPr>
        <p:txBody>
          <a:bodyPr wrap="square" lIns="0" tIns="0" rIns="0" bIns="0" rtlCol="0" anchor="t"/>
          <a:lstStyle/>
          <a:p>
            <a:pPr marL="0" indent="0">
              <a:lnSpc>
                <a:spcPts val="2750"/>
              </a:lnSpc>
              <a:buNone/>
            </a:pPr>
            <a:r>
              <a:rPr lang="en-US" sz="2200" dirty="0">
                <a:solidFill>
                  <a:srgbClr val="CFCBBF"/>
                </a:solidFill>
                <a:latin typeface="Prata" pitchFamily="34" charset="0"/>
                <a:ea typeface="Prata" pitchFamily="34" charset="-122"/>
                <a:cs typeface="Prata" pitchFamily="34" charset="-120"/>
              </a:rPr>
              <a:t>Improve Emotional Well-Being</a:t>
            </a:r>
            <a:endParaRPr lang="en-US" sz="2200" dirty="0"/>
          </a:p>
        </p:txBody>
      </p:sp>
      <p:sp>
        <p:nvSpPr>
          <p:cNvPr id="12" name="Text 9"/>
          <p:cNvSpPr/>
          <p:nvPr/>
        </p:nvSpPr>
        <p:spPr>
          <a:xfrm>
            <a:off x="9866709" y="5569625"/>
            <a:ext cx="3744992" cy="1810345"/>
          </a:xfrm>
          <a:prstGeom prst="rect">
            <a:avLst/>
          </a:prstGeom>
          <a:noFill/>
          <a:ln/>
        </p:spPr>
        <p:txBody>
          <a:bodyPr wrap="square" lIns="0" tIns="0" rIns="0" bIns="0" rtlCol="0" anchor="t"/>
          <a:lstStyle/>
          <a:p>
            <a:pPr marL="0" indent="0">
              <a:lnSpc>
                <a:spcPts val="2850"/>
              </a:lnSpc>
              <a:buNone/>
            </a:pPr>
            <a:r>
              <a:rPr lang="en-US" sz="1750" dirty="0">
                <a:solidFill>
                  <a:srgbClr val="CFCBBF"/>
                </a:solidFill>
                <a:latin typeface="Raleway" pitchFamily="34" charset="0"/>
                <a:ea typeface="Raleway" pitchFamily="34" charset="-122"/>
                <a:cs typeface="Raleway" pitchFamily="34" charset="-120"/>
              </a:rPr>
              <a:t>Develop and implement targeted strategies to address the emotional wellbeing of the residents, providing them with necessary support and companionship.</a:t>
            </a:r>
            <a:endParaRPr lang="en-US" sz="1750" dirty="0"/>
          </a:p>
        </p:txBody>
      </p:sp>
      <p:sp>
        <p:nvSpPr>
          <p:cNvPr id="13" name="Rectangle 12">
            <a:extLst>
              <a:ext uri="{FF2B5EF4-FFF2-40B4-BE49-F238E27FC236}">
                <a16:creationId xmlns:a16="http://schemas.microsoft.com/office/drawing/2014/main" id="{E4C63BA5-B315-ACB8-4E63-0FA395BB4B87}"/>
              </a:ext>
            </a:extLst>
          </p:cNvPr>
          <p:cNvSpPr/>
          <p:nvPr/>
        </p:nvSpPr>
        <p:spPr>
          <a:xfrm>
            <a:off x="12889735" y="7821976"/>
            <a:ext cx="1586429" cy="28643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By BOCOUM</a:t>
            </a:r>
            <a:endParaRPr lang="en-IN" dirty="0"/>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385150" y="770555"/>
            <a:ext cx="5221995" cy="6962660"/>
          </a:xfrm>
          <a:prstGeom prst="rect">
            <a:avLst/>
          </a:prstGeom>
        </p:spPr>
      </p:pic>
      <p:sp>
        <p:nvSpPr>
          <p:cNvPr id="3" name="Text 0"/>
          <p:cNvSpPr/>
          <p:nvPr/>
        </p:nvSpPr>
        <p:spPr>
          <a:xfrm>
            <a:off x="6115764" y="637937"/>
            <a:ext cx="4495443" cy="561975"/>
          </a:xfrm>
          <a:prstGeom prst="rect">
            <a:avLst/>
          </a:prstGeom>
          <a:noFill/>
          <a:ln/>
        </p:spPr>
        <p:txBody>
          <a:bodyPr wrap="none" lIns="0" tIns="0" rIns="0" bIns="0" rtlCol="0" anchor="t"/>
          <a:lstStyle/>
          <a:p>
            <a:pPr marL="0" indent="0">
              <a:lnSpc>
                <a:spcPts val="4400"/>
              </a:lnSpc>
              <a:buNone/>
            </a:pPr>
            <a:r>
              <a:rPr lang="en-US" sz="3500" dirty="0">
                <a:solidFill>
                  <a:srgbClr val="F2E782"/>
                </a:solidFill>
                <a:latin typeface="Prata" pitchFamily="34" charset="0"/>
                <a:ea typeface="Prata" pitchFamily="34" charset="-122"/>
                <a:cs typeface="Prata" pitchFamily="34" charset="-120"/>
              </a:rPr>
              <a:t>Steps To be Taken</a:t>
            </a:r>
            <a:endParaRPr lang="en-US" sz="3500" dirty="0"/>
          </a:p>
        </p:txBody>
      </p:sp>
      <p:sp>
        <p:nvSpPr>
          <p:cNvPr id="4" name="Shape 1"/>
          <p:cNvSpPr/>
          <p:nvPr/>
        </p:nvSpPr>
        <p:spPr>
          <a:xfrm>
            <a:off x="6374011" y="1469588"/>
            <a:ext cx="22860" cy="6121956"/>
          </a:xfrm>
          <a:prstGeom prst="roundRect">
            <a:avLst>
              <a:gd name="adj" fmla="val 117992"/>
            </a:avLst>
          </a:prstGeom>
          <a:solidFill>
            <a:srgbClr val="535455"/>
          </a:solidFill>
          <a:ln/>
        </p:spPr>
        <p:txBody>
          <a:bodyPr/>
          <a:lstStyle/>
          <a:p>
            <a:endParaRPr lang="en-IN"/>
          </a:p>
        </p:txBody>
      </p:sp>
      <p:sp>
        <p:nvSpPr>
          <p:cNvPr id="5" name="Shape 2"/>
          <p:cNvSpPr/>
          <p:nvPr/>
        </p:nvSpPr>
        <p:spPr>
          <a:xfrm>
            <a:off x="6564868" y="1862733"/>
            <a:ext cx="629364" cy="22860"/>
          </a:xfrm>
          <a:prstGeom prst="roundRect">
            <a:avLst>
              <a:gd name="adj" fmla="val 117992"/>
            </a:avLst>
          </a:prstGeom>
          <a:solidFill>
            <a:srgbClr val="535455"/>
          </a:solidFill>
          <a:ln/>
        </p:spPr>
        <p:txBody>
          <a:bodyPr/>
          <a:lstStyle/>
          <a:p>
            <a:endParaRPr lang="en-IN"/>
          </a:p>
        </p:txBody>
      </p:sp>
      <p:sp>
        <p:nvSpPr>
          <p:cNvPr id="6" name="Shape 3"/>
          <p:cNvSpPr/>
          <p:nvPr/>
        </p:nvSpPr>
        <p:spPr>
          <a:xfrm>
            <a:off x="6183154" y="1671876"/>
            <a:ext cx="404574" cy="404574"/>
          </a:xfrm>
          <a:prstGeom prst="roundRect">
            <a:avLst>
              <a:gd name="adj" fmla="val 6667"/>
            </a:avLst>
          </a:prstGeom>
          <a:solidFill>
            <a:srgbClr val="3A3B3C"/>
          </a:solidFill>
          <a:ln/>
        </p:spPr>
        <p:txBody>
          <a:bodyPr/>
          <a:lstStyle/>
          <a:p>
            <a:endParaRPr lang="en-IN"/>
          </a:p>
        </p:txBody>
      </p:sp>
      <p:sp>
        <p:nvSpPr>
          <p:cNvPr id="7" name="Text 4"/>
          <p:cNvSpPr/>
          <p:nvPr/>
        </p:nvSpPr>
        <p:spPr>
          <a:xfrm>
            <a:off x="6338887" y="1739265"/>
            <a:ext cx="93107" cy="269677"/>
          </a:xfrm>
          <a:prstGeom prst="rect">
            <a:avLst/>
          </a:prstGeom>
          <a:noFill/>
          <a:ln/>
        </p:spPr>
        <p:txBody>
          <a:bodyPr wrap="none" lIns="0" tIns="0" rIns="0" bIns="0" rtlCol="0" anchor="t"/>
          <a:lstStyle/>
          <a:p>
            <a:pPr marL="0" indent="0" algn="ctr">
              <a:lnSpc>
                <a:spcPts val="2100"/>
              </a:lnSpc>
              <a:buNone/>
            </a:pPr>
            <a:r>
              <a:rPr lang="en-US" sz="2100" dirty="0">
                <a:solidFill>
                  <a:srgbClr val="CFCBBF"/>
                </a:solidFill>
                <a:latin typeface="Prata" pitchFamily="34" charset="0"/>
                <a:ea typeface="Prata" pitchFamily="34" charset="-122"/>
                <a:cs typeface="Prata" pitchFamily="34" charset="-120"/>
              </a:rPr>
              <a:t>1</a:t>
            </a:r>
            <a:endParaRPr lang="en-US" sz="2100" dirty="0"/>
          </a:p>
        </p:txBody>
      </p:sp>
      <p:sp>
        <p:nvSpPr>
          <p:cNvPr id="8" name="Text 5"/>
          <p:cNvSpPr/>
          <p:nvPr/>
        </p:nvSpPr>
        <p:spPr>
          <a:xfrm>
            <a:off x="7374374" y="1649373"/>
            <a:ext cx="2251710" cy="280988"/>
          </a:xfrm>
          <a:prstGeom prst="rect">
            <a:avLst/>
          </a:prstGeom>
          <a:noFill/>
          <a:ln/>
        </p:spPr>
        <p:txBody>
          <a:bodyPr wrap="none" lIns="0" tIns="0" rIns="0" bIns="0" rtlCol="0" anchor="t"/>
          <a:lstStyle/>
          <a:p>
            <a:pPr marL="0" indent="0" algn="l">
              <a:lnSpc>
                <a:spcPts val="2200"/>
              </a:lnSpc>
              <a:buNone/>
            </a:pPr>
            <a:r>
              <a:rPr lang="en-US" sz="1750" dirty="0">
                <a:solidFill>
                  <a:srgbClr val="CFCBBF"/>
                </a:solidFill>
                <a:latin typeface="Prata" pitchFamily="34" charset="0"/>
                <a:ea typeface="Prata" pitchFamily="34" charset="-122"/>
                <a:cs typeface="Prata" pitchFamily="34" charset="-120"/>
              </a:rPr>
              <a:t>Physical Adaptations</a:t>
            </a:r>
            <a:endParaRPr lang="en-US" sz="1750" dirty="0"/>
          </a:p>
        </p:txBody>
      </p:sp>
      <p:sp>
        <p:nvSpPr>
          <p:cNvPr id="9" name="Text 6"/>
          <p:cNvSpPr/>
          <p:nvPr/>
        </p:nvSpPr>
        <p:spPr>
          <a:xfrm>
            <a:off x="7374374" y="2038231"/>
            <a:ext cx="6626662" cy="575310"/>
          </a:xfrm>
          <a:prstGeom prst="rect">
            <a:avLst/>
          </a:prstGeom>
          <a:noFill/>
          <a:ln/>
        </p:spPr>
        <p:txBody>
          <a:bodyPr wrap="square" lIns="0" tIns="0" rIns="0" bIns="0" rtlCol="0" anchor="t"/>
          <a:lstStyle/>
          <a:p>
            <a:pPr marL="0" indent="0" algn="l">
              <a:lnSpc>
                <a:spcPts val="2250"/>
              </a:lnSpc>
              <a:buNone/>
            </a:pPr>
            <a:r>
              <a:rPr lang="en-US" sz="1400" dirty="0">
                <a:solidFill>
                  <a:srgbClr val="CFCBBF"/>
                </a:solidFill>
                <a:latin typeface="Raleway" pitchFamily="34" charset="0"/>
                <a:ea typeface="Raleway" pitchFamily="34" charset="-122"/>
                <a:cs typeface="Raleway" pitchFamily="34" charset="-120"/>
              </a:rPr>
              <a:t>Collaborate with skilled local contractors and volunteers to introduce a range of physical adaptations.</a:t>
            </a:r>
            <a:endParaRPr lang="en-US" sz="1400" dirty="0"/>
          </a:p>
        </p:txBody>
      </p:sp>
      <p:sp>
        <p:nvSpPr>
          <p:cNvPr id="10" name="Shape 7"/>
          <p:cNvSpPr/>
          <p:nvPr/>
        </p:nvSpPr>
        <p:spPr>
          <a:xfrm>
            <a:off x="6564868" y="3366254"/>
            <a:ext cx="629364" cy="22860"/>
          </a:xfrm>
          <a:prstGeom prst="roundRect">
            <a:avLst>
              <a:gd name="adj" fmla="val 117992"/>
            </a:avLst>
          </a:prstGeom>
          <a:solidFill>
            <a:srgbClr val="535455"/>
          </a:solidFill>
          <a:ln/>
        </p:spPr>
        <p:txBody>
          <a:bodyPr/>
          <a:lstStyle/>
          <a:p>
            <a:endParaRPr lang="en-IN"/>
          </a:p>
        </p:txBody>
      </p:sp>
      <p:sp>
        <p:nvSpPr>
          <p:cNvPr id="11" name="Shape 8"/>
          <p:cNvSpPr/>
          <p:nvPr/>
        </p:nvSpPr>
        <p:spPr>
          <a:xfrm>
            <a:off x="6183154" y="3175397"/>
            <a:ext cx="404574" cy="404574"/>
          </a:xfrm>
          <a:prstGeom prst="roundRect">
            <a:avLst>
              <a:gd name="adj" fmla="val 6667"/>
            </a:avLst>
          </a:prstGeom>
          <a:solidFill>
            <a:srgbClr val="3A3B3C"/>
          </a:solidFill>
          <a:ln/>
        </p:spPr>
        <p:txBody>
          <a:bodyPr/>
          <a:lstStyle/>
          <a:p>
            <a:endParaRPr lang="en-IN"/>
          </a:p>
        </p:txBody>
      </p:sp>
      <p:sp>
        <p:nvSpPr>
          <p:cNvPr id="12" name="Text 9"/>
          <p:cNvSpPr/>
          <p:nvPr/>
        </p:nvSpPr>
        <p:spPr>
          <a:xfrm>
            <a:off x="6302812" y="3242786"/>
            <a:ext cx="165259" cy="269677"/>
          </a:xfrm>
          <a:prstGeom prst="rect">
            <a:avLst/>
          </a:prstGeom>
          <a:noFill/>
          <a:ln/>
        </p:spPr>
        <p:txBody>
          <a:bodyPr wrap="none" lIns="0" tIns="0" rIns="0" bIns="0" rtlCol="0" anchor="t"/>
          <a:lstStyle/>
          <a:p>
            <a:pPr marL="0" indent="0" algn="ctr">
              <a:lnSpc>
                <a:spcPts val="2100"/>
              </a:lnSpc>
              <a:buNone/>
            </a:pPr>
            <a:r>
              <a:rPr lang="en-US" sz="2100" dirty="0">
                <a:solidFill>
                  <a:srgbClr val="CFCBBF"/>
                </a:solidFill>
                <a:latin typeface="Prata" pitchFamily="34" charset="0"/>
                <a:ea typeface="Prata" pitchFamily="34" charset="-122"/>
                <a:cs typeface="Prata" pitchFamily="34" charset="-120"/>
              </a:rPr>
              <a:t>2</a:t>
            </a:r>
            <a:endParaRPr lang="en-US" sz="2100" dirty="0"/>
          </a:p>
        </p:txBody>
      </p:sp>
      <p:sp>
        <p:nvSpPr>
          <p:cNvPr id="13" name="Text 10"/>
          <p:cNvSpPr/>
          <p:nvPr/>
        </p:nvSpPr>
        <p:spPr>
          <a:xfrm>
            <a:off x="7374374" y="3152894"/>
            <a:ext cx="2247662" cy="280988"/>
          </a:xfrm>
          <a:prstGeom prst="rect">
            <a:avLst/>
          </a:prstGeom>
          <a:noFill/>
          <a:ln/>
        </p:spPr>
        <p:txBody>
          <a:bodyPr wrap="none" lIns="0" tIns="0" rIns="0" bIns="0" rtlCol="0" anchor="t"/>
          <a:lstStyle/>
          <a:p>
            <a:pPr marL="0" indent="0" algn="l">
              <a:lnSpc>
                <a:spcPts val="2200"/>
              </a:lnSpc>
              <a:buNone/>
            </a:pPr>
            <a:r>
              <a:rPr lang="en-US" sz="1750" dirty="0">
                <a:solidFill>
                  <a:srgbClr val="CFCBBF"/>
                </a:solidFill>
                <a:latin typeface="Prata" pitchFamily="34" charset="0"/>
                <a:ea typeface="Prata" pitchFamily="34" charset="-122"/>
                <a:cs typeface="Prata" pitchFamily="34" charset="-120"/>
              </a:rPr>
              <a:t>Activity Planning</a:t>
            </a:r>
            <a:endParaRPr lang="en-US" sz="1750" dirty="0"/>
          </a:p>
        </p:txBody>
      </p:sp>
      <p:sp>
        <p:nvSpPr>
          <p:cNvPr id="14" name="Text 11"/>
          <p:cNvSpPr/>
          <p:nvPr/>
        </p:nvSpPr>
        <p:spPr>
          <a:xfrm>
            <a:off x="7374374" y="3541752"/>
            <a:ext cx="6626662" cy="575310"/>
          </a:xfrm>
          <a:prstGeom prst="rect">
            <a:avLst/>
          </a:prstGeom>
          <a:noFill/>
          <a:ln/>
        </p:spPr>
        <p:txBody>
          <a:bodyPr wrap="square" lIns="0" tIns="0" rIns="0" bIns="0" rtlCol="0" anchor="t"/>
          <a:lstStyle/>
          <a:p>
            <a:pPr marL="0" indent="0" algn="l">
              <a:lnSpc>
                <a:spcPts val="2250"/>
              </a:lnSpc>
              <a:buNone/>
            </a:pPr>
            <a:r>
              <a:rPr lang="en-US" sz="1400" dirty="0">
                <a:solidFill>
                  <a:srgbClr val="CFCBBF"/>
                </a:solidFill>
                <a:latin typeface="Raleway" pitchFamily="34" charset="0"/>
                <a:ea typeface="Raleway" pitchFamily="34" charset="-122"/>
                <a:cs typeface="Raleway" pitchFamily="34" charset="-120"/>
              </a:rPr>
              <a:t>Implement  diverse and engaging activity calendar that include regular group music sessions, tactile art classes, and storytelling circles.</a:t>
            </a:r>
            <a:endParaRPr lang="en-US" sz="1400" dirty="0"/>
          </a:p>
        </p:txBody>
      </p:sp>
      <p:sp>
        <p:nvSpPr>
          <p:cNvPr id="15" name="Shape 12"/>
          <p:cNvSpPr/>
          <p:nvPr/>
        </p:nvSpPr>
        <p:spPr>
          <a:xfrm>
            <a:off x="6564868" y="4869775"/>
            <a:ext cx="629364" cy="22860"/>
          </a:xfrm>
          <a:prstGeom prst="roundRect">
            <a:avLst>
              <a:gd name="adj" fmla="val 117992"/>
            </a:avLst>
          </a:prstGeom>
          <a:solidFill>
            <a:srgbClr val="535455"/>
          </a:solidFill>
          <a:ln/>
        </p:spPr>
        <p:txBody>
          <a:bodyPr/>
          <a:lstStyle/>
          <a:p>
            <a:endParaRPr lang="en-IN"/>
          </a:p>
        </p:txBody>
      </p:sp>
      <p:sp>
        <p:nvSpPr>
          <p:cNvPr id="16" name="Shape 13"/>
          <p:cNvSpPr/>
          <p:nvPr/>
        </p:nvSpPr>
        <p:spPr>
          <a:xfrm>
            <a:off x="6183154" y="4678918"/>
            <a:ext cx="404574" cy="404574"/>
          </a:xfrm>
          <a:prstGeom prst="roundRect">
            <a:avLst>
              <a:gd name="adj" fmla="val 6667"/>
            </a:avLst>
          </a:prstGeom>
          <a:solidFill>
            <a:srgbClr val="3A3B3C"/>
          </a:solidFill>
          <a:ln/>
        </p:spPr>
        <p:txBody>
          <a:bodyPr/>
          <a:lstStyle/>
          <a:p>
            <a:endParaRPr lang="en-IN"/>
          </a:p>
        </p:txBody>
      </p:sp>
      <p:sp>
        <p:nvSpPr>
          <p:cNvPr id="17" name="Text 14"/>
          <p:cNvSpPr/>
          <p:nvPr/>
        </p:nvSpPr>
        <p:spPr>
          <a:xfrm>
            <a:off x="6301859" y="4746308"/>
            <a:ext cx="167164" cy="269677"/>
          </a:xfrm>
          <a:prstGeom prst="rect">
            <a:avLst/>
          </a:prstGeom>
          <a:noFill/>
          <a:ln/>
        </p:spPr>
        <p:txBody>
          <a:bodyPr wrap="none" lIns="0" tIns="0" rIns="0" bIns="0" rtlCol="0" anchor="t"/>
          <a:lstStyle/>
          <a:p>
            <a:pPr marL="0" indent="0" algn="ctr">
              <a:lnSpc>
                <a:spcPts val="2100"/>
              </a:lnSpc>
              <a:buNone/>
            </a:pPr>
            <a:r>
              <a:rPr lang="en-US" sz="2100" dirty="0">
                <a:solidFill>
                  <a:srgbClr val="CFCBBF"/>
                </a:solidFill>
                <a:latin typeface="Prata" pitchFamily="34" charset="0"/>
                <a:ea typeface="Prata" pitchFamily="34" charset="-122"/>
                <a:cs typeface="Prata" pitchFamily="34" charset="-120"/>
              </a:rPr>
              <a:t>3</a:t>
            </a:r>
            <a:endParaRPr lang="en-US" sz="2100" dirty="0"/>
          </a:p>
        </p:txBody>
      </p:sp>
      <p:sp>
        <p:nvSpPr>
          <p:cNvPr id="18" name="Text 15"/>
          <p:cNvSpPr/>
          <p:nvPr/>
        </p:nvSpPr>
        <p:spPr>
          <a:xfrm>
            <a:off x="7374374" y="4656415"/>
            <a:ext cx="2247662" cy="280988"/>
          </a:xfrm>
          <a:prstGeom prst="rect">
            <a:avLst/>
          </a:prstGeom>
          <a:noFill/>
          <a:ln/>
        </p:spPr>
        <p:txBody>
          <a:bodyPr wrap="none" lIns="0" tIns="0" rIns="0" bIns="0" rtlCol="0" anchor="t"/>
          <a:lstStyle/>
          <a:p>
            <a:pPr marL="0" indent="0" algn="l">
              <a:lnSpc>
                <a:spcPts val="2200"/>
              </a:lnSpc>
              <a:buNone/>
            </a:pPr>
            <a:r>
              <a:rPr lang="en-US" sz="1750" dirty="0">
                <a:solidFill>
                  <a:srgbClr val="CFCBBF"/>
                </a:solidFill>
                <a:latin typeface="Prata" pitchFamily="34" charset="0"/>
                <a:ea typeface="Prata" pitchFamily="34" charset="-122"/>
                <a:cs typeface="Prata" pitchFamily="34" charset="-120"/>
              </a:rPr>
              <a:t>Counselling Services</a:t>
            </a:r>
            <a:endParaRPr lang="en-US" sz="1750" dirty="0"/>
          </a:p>
        </p:txBody>
      </p:sp>
      <p:sp>
        <p:nvSpPr>
          <p:cNvPr id="19" name="Text 16"/>
          <p:cNvSpPr/>
          <p:nvPr/>
        </p:nvSpPr>
        <p:spPr>
          <a:xfrm>
            <a:off x="7374374" y="5045273"/>
            <a:ext cx="6626662" cy="862965"/>
          </a:xfrm>
          <a:prstGeom prst="rect">
            <a:avLst/>
          </a:prstGeom>
          <a:noFill/>
          <a:ln/>
        </p:spPr>
        <p:txBody>
          <a:bodyPr wrap="square" lIns="0" tIns="0" rIns="0" bIns="0" rtlCol="0" anchor="t"/>
          <a:lstStyle/>
          <a:p>
            <a:pPr marL="0" indent="0" algn="l">
              <a:lnSpc>
                <a:spcPts val="2250"/>
              </a:lnSpc>
              <a:buNone/>
            </a:pPr>
            <a:r>
              <a:rPr lang="en-US" sz="1400" dirty="0">
                <a:solidFill>
                  <a:srgbClr val="CFCBBF"/>
                </a:solidFill>
                <a:latin typeface="Raleway" pitchFamily="34" charset="0"/>
                <a:ea typeface="Raleway" pitchFamily="34" charset="-122"/>
                <a:cs typeface="Raleway" pitchFamily="34" charset="-120"/>
              </a:rPr>
              <a:t>Partnered with mental health professionals to establish regular counselling sessions and support groups specifically tailored to address the emotional needs of the residents.</a:t>
            </a:r>
            <a:endParaRPr lang="en-US" sz="1400" dirty="0"/>
          </a:p>
        </p:txBody>
      </p:sp>
      <p:sp>
        <p:nvSpPr>
          <p:cNvPr id="20" name="Shape 17"/>
          <p:cNvSpPr/>
          <p:nvPr/>
        </p:nvSpPr>
        <p:spPr>
          <a:xfrm>
            <a:off x="6564868" y="6660952"/>
            <a:ext cx="629364" cy="22860"/>
          </a:xfrm>
          <a:prstGeom prst="roundRect">
            <a:avLst>
              <a:gd name="adj" fmla="val 117992"/>
            </a:avLst>
          </a:prstGeom>
          <a:solidFill>
            <a:srgbClr val="535455"/>
          </a:solidFill>
          <a:ln/>
        </p:spPr>
        <p:txBody>
          <a:bodyPr/>
          <a:lstStyle/>
          <a:p>
            <a:endParaRPr lang="en-IN"/>
          </a:p>
        </p:txBody>
      </p:sp>
      <p:sp>
        <p:nvSpPr>
          <p:cNvPr id="21" name="Shape 18"/>
          <p:cNvSpPr/>
          <p:nvPr/>
        </p:nvSpPr>
        <p:spPr>
          <a:xfrm>
            <a:off x="6183154" y="6470094"/>
            <a:ext cx="404574" cy="404574"/>
          </a:xfrm>
          <a:prstGeom prst="roundRect">
            <a:avLst>
              <a:gd name="adj" fmla="val 6667"/>
            </a:avLst>
          </a:prstGeom>
          <a:solidFill>
            <a:srgbClr val="3A3B3C"/>
          </a:solidFill>
          <a:ln/>
        </p:spPr>
        <p:txBody>
          <a:bodyPr/>
          <a:lstStyle/>
          <a:p>
            <a:endParaRPr lang="en-IN"/>
          </a:p>
        </p:txBody>
      </p:sp>
      <p:sp>
        <p:nvSpPr>
          <p:cNvPr id="22" name="Text 19"/>
          <p:cNvSpPr/>
          <p:nvPr/>
        </p:nvSpPr>
        <p:spPr>
          <a:xfrm>
            <a:off x="6306503" y="6537484"/>
            <a:ext cx="157758" cy="269677"/>
          </a:xfrm>
          <a:prstGeom prst="rect">
            <a:avLst/>
          </a:prstGeom>
          <a:noFill/>
          <a:ln/>
        </p:spPr>
        <p:txBody>
          <a:bodyPr wrap="none" lIns="0" tIns="0" rIns="0" bIns="0" rtlCol="0" anchor="t"/>
          <a:lstStyle/>
          <a:p>
            <a:pPr marL="0" indent="0" algn="ctr">
              <a:lnSpc>
                <a:spcPts val="2100"/>
              </a:lnSpc>
              <a:buNone/>
            </a:pPr>
            <a:r>
              <a:rPr lang="en-US" sz="2100" dirty="0">
                <a:solidFill>
                  <a:srgbClr val="CFCBBF"/>
                </a:solidFill>
                <a:latin typeface="Prata" pitchFamily="34" charset="0"/>
                <a:ea typeface="Prata" pitchFamily="34" charset="-122"/>
                <a:cs typeface="Prata" pitchFamily="34" charset="-120"/>
              </a:rPr>
              <a:t>4</a:t>
            </a:r>
            <a:endParaRPr lang="en-US" sz="2100" dirty="0"/>
          </a:p>
        </p:txBody>
      </p:sp>
      <p:sp>
        <p:nvSpPr>
          <p:cNvPr id="23" name="Text 20"/>
          <p:cNvSpPr/>
          <p:nvPr/>
        </p:nvSpPr>
        <p:spPr>
          <a:xfrm>
            <a:off x="7374374" y="6447592"/>
            <a:ext cx="2575917" cy="280988"/>
          </a:xfrm>
          <a:prstGeom prst="rect">
            <a:avLst/>
          </a:prstGeom>
          <a:noFill/>
          <a:ln/>
        </p:spPr>
        <p:txBody>
          <a:bodyPr wrap="none" lIns="0" tIns="0" rIns="0" bIns="0" rtlCol="0" anchor="t"/>
          <a:lstStyle/>
          <a:p>
            <a:pPr marL="0" indent="0" algn="l">
              <a:lnSpc>
                <a:spcPts val="2200"/>
              </a:lnSpc>
              <a:buNone/>
            </a:pPr>
            <a:r>
              <a:rPr lang="en-US" sz="1750" dirty="0">
                <a:solidFill>
                  <a:srgbClr val="CFCBBF"/>
                </a:solidFill>
                <a:latin typeface="Prata" pitchFamily="34" charset="0"/>
                <a:ea typeface="Prata" pitchFamily="34" charset="-122"/>
                <a:cs typeface="Prata" pitchFamily="34" charset="-120"/>
              </a:rPr>
              <a:t>Training And Education</a:t>
            </a:r>
            <a:endParaRPr lang="en-US" sz="1750" dirty="0"/>
          </a:p>
        </p:txBody>
      </p:sp>
      <p:sp>
        <p:nvSpPr>
          <p:cNvPr id="24" name="Text 21"/>
          <p:cNvSpPr/>
          <p:nvPr/>
        </p:nvSpPr>
        <p:spPr>
          <a:xfrm>
            <a:off x="7374374" y="6836450"/>
            <a:ext cx="6626662" cy="575310"/>
          </a:xfrm>
          <a:prstGeom prst="rect">
            <a:avLst/>
          </a:prstGeom>
          <a:noFill/>
          <a:ln/>
        </p:spPr>
        <p:txBody>
          <a:bodyPr wrap="square" lIns="0" tIns="0" rIns="0" bIns="0" rtlCol="0" anchor="t"/>
          <a:lstStyle/>
          <a:p>
            <a:pPr marL="0" indent="0" algn="l">
              <a:lnSpc>
                <a:spcPts val="2250"/>
              </a:lnSpc>
              <a:buNone/>
            </a:pPr>
            <a:r>
              <a:rPr lang="en-US" sz="1400" dirty="0">
                <a:solidFill>
                  <a:srgbClr val="CFCBBF"/>
                </a:solidFill>
                <a:latin typeface="Raleway" pitchFamily="34" charset="0"/>
                <a:ea typeface="Raleway" pitchFamily="34" charset="-122"/>
                <a:cs typeface="Raleway" pitchFamily="34" charset="-120"/>
              </a:rPr>
              <a:t>Conduct comprehensive workshops for both GURU NANAK staff and volunteers to sensitize them about interacting effectively with visually impaired individuals.</a:t>
            </a:r>
            <a:endParaRPr lang="en-US" sz="1400" dirty="0"/>
          </a:p>
        </p:txBody>
      </p:sp>
      <p:sp>
        <p:nvSpPr>
          <p:cNvPr id="25" name="Rectangle 24">
            <a:extLst>
              <a:ext uri="{FF2B5EF4-FFF2-40B4-BE49-F238E27FC236}">
                <a16:creationId xmlns:a16="http://schemas.microsoft.com/office/drawing/2014/main" id="{1AEC2964-4198-4743-CD13-8D589B63A869}"/>
              </a:ext>
            </a:extLst>
          </p:cNvPr>
          <p:cNvSpPr/>
          <p:nvPr/>
        </p:nvSpPr>
        <p:spPr>
          <a:xfrm>
            <a:off x="12944819" y="7810959"/>
            <a:ext cx="1575412" cy="31948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By BOCOUM</a:t>
            </a:r>
            <a:endParaRPr lang="en-IN"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64037" y="1610678"/>
            <a:ext cx="6172200" cy="771525"/>
          </a:xfrm>
          <a:prstGeom prst="rect">
            <a:avLst/>
          </a:prstGeom>
          <a:noFill/>
          <a:ln/>
        </p:spPr>
        <p:txBody>
          <a:bodyPr wrap="none" lIns="0" tIns="0" rIns="0" bIns="0" rtlCol="0" anchor="t"/>
          <a:lstStyle/>
          <a:p>
            <a:pPr marL="0" indent="0">
              <a:lnSpc>
                <a:spcPts val="6050"/>
              </a:lnSpc>
              <a:buNone/>
            </a:pPr>
            <a:r>
              <a:rPr lang="en-US" sz="4850" dirty="0">
                <a:solidFill>
                  <a:srgbClr val="F2E782"/>
                </a:solidFill>
                <a:latin typeface="Prata" pitchFamily="34" charset="0"/>
                <a:ea typeface="Prata" pitchFamily="34" charset="-122"/>
                <a:cs typeface="Prata" pitchFamily="34" charset="-120"/>
              </a:rPr>
              <a:t>Geo Tagged Pictures</a:t>
            </a:r>
            <a:endParaRPr lang="en-US" sz="4850" dirty="0"/>
          </a:p>
        </p:txBody>
      </p:sp>
      <p:pic>
        <p:nvPicPr>
          <p:cNvPr id="3" name="Image 0"/>
          <p:cNvPicPr>
            <a:picLocks noChangeAspect="1"/>
          </p:cNvPicPr>
          <p:nvPr/>
        </p:nvPicPr>
        <p:blipFill>
          <a:blip r:embed="rId3"/>
          <a:srcRect/>
          <a:stretch/>
        </p:blipFill>
        <p:spPr>
          <a:xfrm>
            <a:off x="871432" y="2549994"/>
            <a:ext cx="2053004" cy="2737339"/>
          </a:xfrm>
          <a:prstGeom prst="rect">
            <a:avLst/>
          </a:prstGeom>
        </p:spPr>
      </p:pic>
      <p:pic>
        <p:nvPicPr>
          <p:cNvPr id="6" name="Image 1" descr="preencoded.png"/>
          <p:cNvPicPr>
            <a:picLocks noChangeAspect="1"/>
          </p:cNvPicPr>
          <p:nvPr/>
        </p:nvPicPr>
        <p:blipFill>
          <a:blip r:embed="rId4"/>
          <a:stretch>
            <a:fillRect/>
          </a:stretch>
        </p:blipFill>
        <p:spPr>
          <a:xfrm>
            <a:off x="2931832" y="2530316"/>
            <a:ext cx="4104405" cy="2746626"/>
          </a:xfrm>
          <a:prstGeom prst="rect">
            <a:avLst/>
          </a:prstGeom>
        </p:spPr>
      </p:pic>
      <p:pic>
        <p:nvPicPr>
          <p:cNvPr id="12" name="Image 2">
            <a:extLst>
              <a:ext uri="{FF2B5EF4-FFF2-40B4-BE49-F238E27FC236}">
                <a16:creationId xmlns:a16="http://schemas.microsoft.com/office/drawing/2014/main" id="{0FA06898-E956-D8E5-7B51-0B720DD7899B}"/>
              </a:ext>
            </a:extLst>
          </p:cNvPr>
          <p:cNvPicPr>
            <a:picLocks noChangeAspect="1"/>
          </p:cNvPicPr>
          <p:nvPr/>
        </p:nvPicPr>
        <p:blipFill>
          <a:blip r:embed="rId5"/>
          <a:srcRect/>
          <a:stretch/>
        </p:blipFill>
        <p:spPr>
          <a:xfrm>
            <a:off x="7091315" y="2530316"/>
            <a:ext cx="2613793" cy="2746626"/>
          </a:xfrm>
          <a:prstGeom prst="rect">
            <a:avLst/>
          </a:prstGeom>
        </p:spPr>
      </p:pic>
      <p:pic>
        <p:nvPicPr>
          <p:cNvPr id="15" name="Picture 14">
            <a:extLst>
              <a:ext uri="{FF2B5EF4-FFF2-40B4-BE49-F238E27FC236}">
                <a16:creationId xmlns:a16="http://schemas.microsoft.com/office/drawing/2014/main" id="{C2A9FB29-FD1C-6445-D799-237A049C7710}"/>
              </a:ext>
            </a:extLst>
          </p:cNvPr>
          <p:cNvPicPr>
            <a:picLocks noChangeAspect="1"/>
          </p:cNvPicPr>
          <p:nvPr/>
        </p:nvPicPr>
        <p:blipFill>
          <a:blip r:embed="rId6"/>
          <a:srcRect/>
          <a:stretch/>
        </p:blipFill>
        <p:spPr>
          <a:xfrm>
            <a:off x="7539085" y="5355211"/>
            <a:ext cx="2166023" cy="2709789"/>
          </a:xfrm>
          <a:prstGeom prst="rect">
            <a:avLst/>
          </a:prstGeom>
        </p:spPr>
      </p:pic>
      <p:pic>
        <p:nvPicPr>
          <p:cNvPr id="5" name="Picture 4">
            <a:extLst>
              <a:ext uri="{FF2B5EF4-FFF2-40B4-BE49-F238E27FC236}">
                <a16:creationId xmlns:a16="http://schemas.microsoft.com/office/drawing/2014/main" id="{1EB3FBA0-9D1E-E25E-D899-8A8F8129DAB0}"/>
              </a:ext>
            </a:extLst>
          </p:cNvPr>
          <p:cNvPicPr>
            <a:picLocks noChangeAspect="1"/>
          </p:cNvPicPr>
          <p:nvPr/>
        </p:nvPicPr>
        <p:blipFill>
          <a:blip r:embed="rId7"/>
          <a:srcRect/>
          <a:stretch/>
        </p:blipFill>
        <p:spPr>
          <a:xfrm>
            <a:off x="9811156" y="2530316"/>
            <a:ext cx="4579515" cy="5620314"/>
          </a:xfrm>
          <a:prstGeom prst="rect">
            <a:avLst/>
          </a:prstGeom>
        </p:spPr>
      </p:pic>
      <p:pic>
        <p:nvPicPr>
          <p:cNvPr id="7" name="Image 1">
            <a:extLst>
              <a:ext uri="{FF2B5EF4-FFF2-40B4-BE49-F238E27FC236}">
                <a16:creationId xmlns:a16="http://schemas.microsoft.com/office/drawing/2014/main" id="{6ABCE62E-A6EA-63E7-64A2-F065C15D09CF}"/>
              </a:ext>
            </a:extLst>
          </p:cNvPr>
          <p:cNvPicPr>
            <a:picLocks noChangeAspect="1"/>
          </p:cNvPicPr>
          <p:nvPr/>
        </p:nvPicPr>
        <p:blipFill>
          <a:blip r:embed="rId5"/>
          <a:srcRect/>
          <a:stretch/>
        </p:blipFill>
        <p:spPr>
          <a:xfrm>
            <a:off x="1009745" y="5276942"/>
            <a:ext cx="2160786" cy="2881048"/>
          </a:xfrm>
          <a:prstGeom prst="rect">
            <a:avLst/>
          </a:prstGeom>
        </p:spPr>
      </p:pic>
      <p:pic>
        <p:nvPicPr>
          <p:cNvPr id="8" name="Image 1">
            <a:extLst>
              <a:ext uri="{FF2B5EF4-FFF2-40B4-BE49-F238E27FC236}">
                <a16:creationId xmlns:a16="http://schemas.microsoft.com/office/drawing/2014/main" id="{E0A4B4FB-E10C-A9CC-7353-46F06DC82D67}"/>
              </a:ext>
            </a:extLst>
          </p:cNvPr>
          <p:cNvPicPr>
            <a:picLocks noChangeAspect="1"/>
          </p:cNvPicPr>
          <p:nvPr/>
        </p:nvPicPr>
        <p:blipFill>
          <a:blip r:embed="rId8"/>
          <a:srcRect/>
          <a:stretch/>
        </p:blipFill>
        <p:spPr>
          <a:xfrm>
            <a:off x="3316239" y="5276942"/>
            <a:ext cx="4145573" cy="287368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64037" y="1812607"/>
            <a:ext cx="8401050" cy="771525"/>
          </a:xfrm>
          <a:prstGeom prst="rect">
            <a:avLst/>
          </a:prstGeom>
          <a:noFill/>
          <a:ln/>
        </p:spPr>
        <p:txBody>
          <a:bodyPr wrap="none" lIns="0" tIns="0" rIns="0" bIns="0" rtlCol="0" anchor="t"/>
          <a:lstStyle/>
          <a:p>
            <a:pPr marL="0" indent="0">
              <a:lnSpc>
                <a:spcPts val="6050"/>
              </a:lnSpc>
              <a:buNone/>
            </a:pPr>
            <a:r>
              <a:rPr lang="en-US" sz="4850" dirty="0">
                <a:solidFill>
                  <a:srgbClr val="F2E782"/>
                </a:solidFill>
                <a:latin typeface="Prata" pitchFamily="34" charset="0"/>
                <a:ea typeface="Prata" pitchFamily="34" charset="-122"/>
                <a:cs typeface="Prata" pitchFamily="34" charset="-120"/>
              </a:rPr>
              <a:t>Effectiveness Of The Project</a:t>
            </a:r>
            <a:endParaRPr lang="en-US" sz="4850" dirty="0"/>
          </a:p>
        </p:txBody>
      </p:sp>
      <p:sp>
        <p:nvSpPr>
          <p:cNvPr id="3" name="Text 1"/>
          <p:cNvSpPr/>
          <p:nvPr/>
        </p:nvSpPr>
        <p:spPr>
          <a:xfrm>
            <a:off x="864037" y="3201233"/>
            <a:ext cx="3364468" cy="385763"/>
          </a:xfrm>
          <a:prstGeom prst="rect">
            <a:avLst/>
          </a:prstGeom>
          <a:noFill/>
          <a:ln/>
        </p:spPr>
        <p:txBody>
          <a:bodyPr wrap="none" lIns="0" tIns="0" rIns="0" bIns="0" rtlCol="0" anchor="t"/>
          <a:lstStyle/>
          <a:p>
            <a:pPr marL="0" indent="0">
              <a:lnSpc>
                <a:spcPts val="3000"/>
              </a:lnSpc>
              <a:buNone/>
            </a:pPr>
            <a:r>
              <a:rPr lang="en-US" sz="2400" dirty="0">
                <a:solidFill>
                  <a:srgbClr val="F2E782"/>
                </a:solidFill>
                <a:latin typeface="Prata" pitchFamily="34" charset="0"/>
                <a:ea typeface="Prata" pitchFamily="34" charset="-122"/>
                <a:cs typeface="Prata" pitchFamily="34" charset="-120"/>
              </a:rPr>
              <a:t>Improve Accessibility</a:t>
            </a:r>
            <a:endParaRPr lang="en-US" sz="2400" dirty="0"/>
          </a:p>
        </p:txBody>
      </p:sp>
      <p:sp>
        <p:nvSpPr>
          <p:cNvPr id="4" name="Text 2"/>
          <p:cNvSpPr/>
          <p:nvPr/>
        </p:nvSpPr>
        <p:spPr>
          <a:xfrm>
            <a:off x="864037" y="3833813"/>
            <a:ext cx="3898821" cy="1975247"/>
          </a:xfrm>
          <a:prstGeom prst="rect">
            <a:avLst/>
          </a:prstGeom>
          <a:noFill/>
          <a:ln/>
        </p:spPr>
        <p:txBody>
          <a:bodyPr wrap="square" lIns="0" tIns="0" rIns="0" bIns="0" rtlCol="0" anchor="t"/>
          <a:lstStyle/>
          <a:p>
            <a:pPr marL="0" indent="0">
              <a:lnSpc>
                <a:spcPts val="3100"/>
              </a:lnSpc>
              <a:buNone/>
            </a:pPr>
            <a:r>
              <a:rPr lang="en-US" sz="1900" dirty="0">
                <a:solidFill>
                  <a:srgbClr val="CFCBBF"/>
                </a:solidFill>
                <a:latin typeface="Raleway" pitchFamily="34" charset="0"/>
                <a:ea typeface="Raleway" pitchFamily="34" charset="-122"/>
                <a:cs typeface="Raleway" pitchFamily="34" charset="-120"/>
              </a:rPr>
              <a:t>Introduce physical adaptations led to a noticeable improvement in the residents' ability to navigate inside the ashram independently and safely.</a:t>
            </a:r>
            <a:endParaRPr lang="en-US" sz="1900" dirty="0"/>
          </a:p>
        </p:txBody>
      </p:sp>
      <p:sp>
        <p:nvSpPr>
          <p:cNvPr id="5" name="Text 3"/>
          <p:cNvSpPr/>
          <p:nvPr/>
        </p:nvSpPr>
        <p:spPr>
          <a:xfrm>
            <a:off x="5372695" y="3201233"/>
            <a:ext cx="3898821" cy="771525"/>
          </a:xfrm>
          <a:prstGeom prst="rect">
            <a:avLst/>
          </a:prstGeom>
          <a:noFill/>
          <a:ln/>
        </p:spPr>
        <p:txBody>
          <a:bodyPr wrap="square" lIns="0" tIns="0" rIns="0" bIns="0" rtlCol="0" anchor="t"/>
          <a:lstStyle/>
          <a:p>
            <a:pPr marL="0" indent="0">
              <a:lnSpc>
                <a:spcPts val="3000"/>
              </a:lnSpc>
              <a:buNone/>
            </a:pPr>
            <a:r>
              <a:rPr lang="en-US" sz="2400" dirty="0">
                <a:solidFill>
                  <a:srgbClr val="F2E782"/>
                </a:solidFill>
                <a:latin typeface="Prata" pitchFamily="34" charset="0"/>
                <a:ea typeface="Prata" pitchFamily="34" charset="-122"/>
                <a:cs typeface="Prata" pitchFamily="34" charset="-120"/>
              </a:rPr>
              <a:t>Increase Social Interaction</a:t>
            </a:r>
            <a:endParaRPr lang="en-US" sz="2400" dirty="0"/>
          </a:p>
        </p:txBody>
      </p:sp>
      <p:sp>
        <p:nvSpPr>
          <p:cNvPr id="6" name="Text 4"/>
          <p:cNvSpPr/>
          <p:nvPr/>
        </p:nvSpPr>
        <p:spPr>
          <a:xfrm>
            <a:off x="5372695" y="4219575"/>
            <a:ext cx="3898821" cy="1580198"/>
          </a:xfrm>
          <a:prstGeom prst="rect">
            <a:avLst/>
          </a:prstGeom>
          <a:noFill/>
          <a:ln/>
        </p:spPr>
        <p:txBody>
          <a:bodyPr wrap="square" lIns="0" tIns="0" rIns="0" bIns="0" rtlCol="0" anchor="t"/>
          <a:lstStyle/>
          <a:p>
            <a:pPr marL="0" indent="0">
              <a:lnSpc>
                <a:spcPts val="3100"/>
              </a:lnSpc>
              <a:buNone/>
            </a:pPr>
            <a:r>
              <a:rPr lang="en-US" sz="1900" dirty="0">
                <a:solidFill>
                  <a:srgbClr val="CFCBBF"/>
                </a:solidFill>
                <a:latin typeface="Raleway" pitchFamily="34" charset="0"/>
                <a:ea typeface="Raleway" pitchFamily="34" charset="-122"/>
                <a:cs typeface="Raleway" pitchFamily="34" charset="-120"/>
              </a:rPr>
              <a:t>Introduce activities and events that will successfully prompt residents to participate more actively.</a:t>
            </a:r>
            <a:endParaRPr lang="en-US" sz="1900" dirty="0"/>
          </a:p>
        </p:txBody>
      </p:sp>
      <p:sp>
        <p:nvSpPr>
          <p:cNvPr id="7" name="Text 5"/>
          <p:cNvSpPr/>
          <p:nvPr/>
        </p:nvSpPr>
        <p:spPr>
          <a:xfrm>
            <a:off x="9881354" y="3201233"/>
            <a:ext cx="3898821" cy="771525"/>
          </a:xfrm>
          <a:prstGeom prst="rect">
            <a:avLst/>
          </a:prstGeom>
          <a:noFill/>
          <a:ln/>
        </p:spPr>
        <p:txBody>
          <a:bodyPr wrap="square" lIns="0" tIns="0" rIns="0" bIns="0" rtlCol="0" anchor="t"/>
          <a:lstStyle/>
          <a:p>
            <a:pPr marL="0" indent="0">
              <a:lnSpc>
                <a:spcPts val="3000"/>
              </a:lnSpc>
              <a:buNone/>
            </a:pPr>
            <a:r>
              <a:rPr lang="en-US" sz="2400" dirty="0">
                <a:solidFill>
                  <a:srgbClr val="F2E782"/>
                </a:solidFill>
                <a:latin typeface="Prata" pitchFamily="34" charset="0"/>
                <a:ea typeface="Prata" pitchFamily="34" charset="-122"/>
                <a:cs typeface="Prata" pitchFamily="34" charset="-120"/>
              </a:rPr>
              <a:t>Enhance Emotional Well-Being</a:t>
            </a:r>
            <a:endParaRPr lang="en-US" sz="2400" dirty="0"/>
          </a:p>
        </p:txBody>
      </p:sp>
      <p:sp>
        <p:nvSpPr>
          <p:cNvPr id="8" name="Text 6"/>
          <p:cNvSpPr/>
          <p:nvPr/>
        </p:nvSpPr>
        <p:spPr>
          <a:xfrm>
            <a:off x="9881354" y="4219575"/>
            <a:ext cx="3898821" cy="1975247"/>
          </a:xfrm>
          <a:prstGeom prst="rect">
            <a:avLst/>
          </a:prstGeom>
          <a:noFill/>
          <a:ln/>
        </p:spPr>
        <p:txBody>
          <a:bodyPr wrap="square" lIns="0" tIns="0" rIns="0" bIns="0" rtlCol="0" anchor="t"/>
          <a:lstStyle/>
          <a:p>
            <a:pPr marL="0" indent="0">
              <a:lnSpc>
                <a:spcPts val="3100"/>
              </a:lnSpc>
              <a:buNone/>
            </a:pPr>
            <a:r>
              <a:rPr lang="en-US" sz="1900" dirty="0">
                <a:solidFill>
                  <a:srgbClr val="CFCBBF"/>
                </a:solidFill>
                <a:latin typeface="Raleway" pitchFamily="34" charset="0"/>
                <a:ea typeface="Raleway" pitchFamily="34" charset="-122"/>
                <a:cs typeface="Raleway" pitchFamily="34" charset="-120"/>
              </a:rPr>
              <a:t>Establish regular counselling sessions and support groups that will serve as valuable platforms for residents to express their emotions.</a:t>
            </a:r>
            <a:endParaRPr lang="en-US" sz="1900" dirty="0"/>
          </a:p>
        </p:txBody>
      </p:sp>
      <p:sp>
        <p:nvSpPr>
          <p:cNvPr id="9" name="Rectangle 8">
            <a:extLst>
              <a:ext uri="{FF2B5EF4-FFF2-40B4-BE49-F238E27FC236}">
                <a16:creationId xmlns:a16="http://schemas.microsoft.com/office/drawing/2014/main" id="{70835FD1-0AB6-CC70-CFBD-C1BD4C056E7D}"/>
              </a:ext>
            </a:extLst>
          </p:cNvPr>
          <p:cNvSpPr/>
          <p:nvPr/>
        </p:nvSpPr>
        <p:spPr>
          <a:xfrm>
            <a:off x="12933802" y="7844010"/>
            <a:ext cx="1487278" cy="24237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By BOCOUM</a:t>
            </a:r>
            <a:endParaRPr lang="en-IN" dirty="0"/>
          </a:p>
        </p:txBody>
      </p:sp>
    </p:spTree>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864037" y="871418"/>
            <a:ext cx="7415927" cy="1543050"/>
          </a:xfrm>
          <a:prstGeom prst="rect">
            <a:avLst/>
          </a:prstGeom>
          <a:noFill/>
          <a:ln/>
        </p:spPr>
        <p:txBody>
          <a:bodyPr wrap="square" lIns="0" tIns="0" rIns="0" bIns="0" rtlCol="0" anchor="t"/>
          <a:lstStyle/>
          <a:p>
            <a:pPr marL="0" indent="0">
              <a:lnSpc>
                <a:spcPts val="6050"/>
              </a:lnSpc>
              <a:buNone/>
            </a:pPr>
            <a:r>
              <a:rPr lang="en-US" sz="4850" dirty="0">
                <a:solidFill>
                  <a:srgbClr val="F2E782"/>
                </a:solidFill>
                <a:latin typeface="Prata" pitchFamily="34" charset="0"/>
                <a:ea typeface="Prata" pitchFamily="34" charset="-122"/>
                <a:cs typeface="Prata" pitchFamily="34" charset="-120"/>
              </a:rPr>
              <a:t>Two (2) Identified Societal Problems</a:t>
            </a:r>
            <a:endParaRPr lang="en-US" sz="4850" dirty="0"/>
          </a:p>
        </p:txBody>
      </p:sp>
      <p:pic>
        <p:nvPicPr>
          <p:cNvPr id="4" name="Image 1" descr="preencoded.png"/>
          <p:cNvPicPr>
            <a:picLocks noChangeAspect="1"/>
          </p:cNvPicPr>
          <p:nvPr/>
        </p:nvPicPr>
        <p:blipFill>
          <a:blip r:embed="rId3"/>
          <a:stretch>
            <a:fillRect/>
          </a:stretch>
        </p:blipFill>
        <p:spPr>
          <a:xfrm>
            <a:off x="864037" y="2784753"/>
            <a:ext cx="1234440" cy="1975009"/>
          </a:xfrm>
          <a:prstGeom prst="rect">
            <a:avLst/>
          </a:prstGeom>
        </p:spPr>
      </p:pic>
      <p:sp>
        <p:nvSpPr>
          <p:cNvPr id="5" name="Text 1"/>
          <p:cNvSpPr/>
          <p:nvPr/>
        </p:nvSpPr>
        <p:spPr>
          <a:xfrm>
            <a:off x="2468761" y="3031569"/>
            <a:ext cx="3086100" cy="385763"/>
          </a:xfrm>
          <a:prstGeom prst="rect">
            <a:avLst/>
          </a:prstGeom>
          <a:noFill/>
          <a:ln/>
        </p:spPr>
        <p:txBody>
          <a:bodyPr wrap="none" lIns="0" tIns="0" rIns="0" bIns="0" rtlCol="0" anchor="t"/>
          <a:lstStyle/>
          <a:p>
            <a:pPr marL="0" indent="0" algn="l">
              <a:lnSpc>
                <a:spcPts val="3000"/>
              </a:lnSpc>
              <a:buNone/>
            </a:pPr>
            <a:r>
              <a:rPr lang="en-US" sz="2400" dirty="0">
                <a:solidFill>
                  <a:srgbClr val="CFCBBF"/>
                </a:solidFill>
                <a:latin typeface="Prata" pitchFamily="34" charset="0"/>
                <a:ea typeface="Prata" pitchFamily="34" charset="-122"/>
                <a:cs typeface="Prata" pitchFamily="34" charset="-120"/>
              </a:rPr>
              <a:t>Falls And Injuries</a:t>
            </a:r>
            <a:endParaRPr lang="en-US" sz="2400" dirty="0"/>
          </a:p>
        </p:txBody>
      </p:sp>
      <p:sp>
        <p:nvSpPr>
          <p:cNvPr id="6" name="Text 2"/>
          <p:cNvSpPr/>
          <p:nvPr/>
        </p:nvSpPr>
        <p:spPr>
          <a:xfrm>
            <a:off x="2468761" y="3565446"/>
            <a:ext cx="5811203" cy="790099"/>
          </a:xfrm>
          <a:prstGeom prst="rect">
            <a:avLst/>
          </a:prstGeom>
          <a:noFill/>
          <a:ln/>
        </p:spPr>
        <p:txBody>
          <a:bodyPr wrap="square" lIns="0" tIns="0" rIns="0" bIns="0" rtlCol="0" anchor="t"/>
          <a:lstStyle/>
          <a:p>
            <a:pPr marL="0" indent="0" algn="l">
              <a:lnSpc>
                <a:spcPts val="3100"/>
              </a:lnSpc>
              <a:buNone/>
            </a:pPr>
            <a:r>
              <a:rPr lang="en-US" sz="1900" dirty="0">
                <a:solidFill>
                  <a:srgbClr val="CFCBBF"/>
                </a:solidFill>
                <a:latin typeface="Raleway" pitchFamily="34" charset="0"/>
                <a:ea typeface="Raleway" pitchFamily="34" charset="-122"/>
                <a:cs typeface="Raleway" pitchFamily="34" charset="-120"/>
              </a:rPr>
              <a:t>Visual impairment significantly increases the risk of falls and injuries among older adults.</a:t>
            </a:r>
            <a:endParaRPr lang="en-US" sz="1900" dirty="0"/>
          </a:p>
        </p:txBody>
      </p:sp>
      <p:pic>
        <p:nvPicPr>
          <p:cNvPr id="7" name="Image 2" descr="preencoded.png"/>
          <p:cNvPicPr>
            <a:picLocks noChangeAspect="1"/>
          </p:cNvPicPr>
          <p:nvPr/>
        </p:nvPicPr>
        <p:blipFill>
          <a:blip r:embed="rId4"/>
          <a:stretch>
            <a:fillRect/>
          </a:stretch>
        </p:blipFill>
        <p:spPr>
          <a:xfrm>
            <a:off x="864037" y="4759762"/>
            <a:ext cx="1234440" cy="2598420"/>
          </a:xfrm>
          <a:prstGeom prst="rect">
            <a:avLst/>
          </a:prstGeom>
        </p:spPr>
      </p:pic>
      <p:sp>
        <p:nvSpPr>
          <p:cNvPr id="8" name="Text 3"/>
          <p:cNvSpPr/>
          <p:nvPr/>
        </p:nvSpPr>
        <p:spPr>
          <a:xfrm>
            <a:off x="2468761" y="5006578"/>
            <a:ext cx="5811203" cy="771525"/>
          </a:xfrm>
          <a:prstGeom prst="rect">
            <a:avLst/>
          </a:prstGeom>
          <a:noFill/>
          <a:ln/>
        </p:spPr>
        <p:txBody>
          <a:bodyPr wrap="square" lIns="0" tIns="0" rIns="0" bIns="0" rtlCol="0" anchor="t"/>
          <a:lstStyle/>
          <a:p>
            <a:pPr marL="0" indent="0" algn="l">
              <a:lnSpc>
                <a:spcPts val="3000"/>
              </a:lnSpc>
              <a:buNone/>
            </a:pPr>
            <a:r>
              <a:rPr lang="en-US" sz="2400" dirty="0">
                <a:solidFill>
                  <a:srgbClr val="CFCBBF"/>
                </a:solidFill>
                <a:latin typeface="Prata" pitchFamily="34" charset="0"/>
                <a:ea typeface="Prata" pitchFamily="34" charset="-122"/>
                <a:cs typeface="Prata" pitchFamily="34" charset="-120"/>
              </a:rPr>
              <a:t>Accessibility And Healthcare Challenges</a:t>
            </a:r>
            <a:endParaRPr lang="en-US" sz="2400" dirty="0"/>
          </a:p>
        </p:txBody>
      </p:sp>
      <p:sp>
        <p:nvSpPr>
          <p:cNvPr id="9" name="Text 4"/>
          <p:cNvSpPr/>
          <p:nvPr/>
        </p:nvSpPr>
        <p:spPr>
          <a:xfrm>
            <a:off x="2468761" y="5926217"/>
            <a:ext cx="5811203" cy="1185148"/>
          </a:xfrm>
          <a:prstGeom prst="rect">
            <a:avLst/>
          </a:prstGeom>
          <a:noFill/>
          <a:ln/>
        </p:spPr>
        <p:txBody>
          <a:bodyPr wrap="square" lIns="0" tIns="0" rIns="0" bIns="0" rtlCol="0" anchor="t"/>
          <a:lstStyle/>
          <a:p>
            <a:pPr marL="0" indent="0" algn="l">
              <a:lnSpc>
                <a:spcPts val="3100"/>
              </a:lnSpc>
              <a:buNone/>
            </a:pPr>
            <a:r>
              <a:rPr lang="en-US" sz="1900" dirty="0">
                <a:solidFill>
                  <a:srgbClr val="CFCBBF"/>
                </a:solidFill>
                <a:latin typeface="Raleway" pitchFamily="34" charset="0"/>
                <a:ea typeface="Raleway" pitchFamily="34" charset="-122"/>
                <a:cs typeface="Raleway" pitchFamily="34" charset="-120"/>
              </a:rPr>
              <a:t>Visually impaired elderly individuals face unique challenges related to accessibility, navigator barriers, poverty, and healthcare utility.</a:t>
            </a:r>
            <a:endParaRPr lang="en-US" sz="1900" dirty="0"/>
          </a:p>
        </p:txBody>
      </p:sp>
      <p:pic>
        <p:nvPicPr>
          <p:cNvPr id="12" name="Picture 11">
            <a:extLst>
              <a:ext uri="{FF2B5EF4-FFF2-40B4-BE49-F238E27FC236}">
                <a16:creationId xmlns:a16="http://schemas.microsoft.com/office/drawing/2014/main" id="{000B999A-229E-8A6D-BDB1-5D19A024AAB1}"/>
              </a:ext>
            </a:extLst>
          </p:cNvPr>
          <p:cNvPicPr>
            <a:picLocks noChangeAspect="1"/>
          </p:cNvPicPr>
          <p:nvPr/>
        </p:nvPicPr>
        <p:blipFill>
          <a:blip r:embed="rId5"/>
          <a:srcRect/>
          <a:stretch/>
        </p:blipFill>
        <p:spPr>
          <a:xfrm>
            <a:off x="8650248" y="139049"/>
            <a:ext cx="5980153" cy="797353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5193864" y="1665292"/>
            <a:ext cx="6172200" cy="771525"/>
          </a:xfrm>
          <a:prstGeom prst="rect">
            <a:avLst/>
          </a:prstGeom>
          <a:noFill/>
          <a:ln/>
        </p:spPr>
        <p:txBody>
          <a:bodyPr wrap="none" lIns="0" tIns="0" rIns="0" bIns="0" rtlCol="0" anchor="t"/>
          <a:lstStyle/>
          <a:p>
            <a:pPr marL="0" indent="0">
              <a:lnSpc>
                <a:spcPts val="6050"/>
              </a:lnSpc>
              <a:buNone/>
            </a:pPr>
            <a:r>
              <a:rPr lang="en-US" sz="4850" dirty="0">
                <a:solidFill>
                  <a:srgbClr val="F2E782"/>
                </a:solidFill>
                <a:latin typeface="Prata" pitchFamily="34" charset="0"/>
                <a:ea typeface="Prata" pitchFamily="34" charset="-122"/>
                <a:cs typeface="Prata" pitchFamily="34" charset="-120"/>
              </a:rPr>
              <a:t>Conclusion</a:t>
            </a:r>
            <a:endParaRPr lang="en-US" sz="4850" dirty="0"/>
          </a:p>
        </p:txBody>
      </p:sp>
      <p:sp>
        <p:nvSpPr>
          <p:cNvPr id="4" name="Text 1"/>
          <p:cNvSpPr/>
          <p:nvPr/>
        </p:nvSpPr>
        <p:spPr>
          <a:xfrm>
            <a:off x="3607236" y="3402184"/>
            <a:ext cx="7415927" cy="2765346"/>
          </a:xfrm>
          <a:prstGeom prst="rect">
            <a:avLst/>
          </a:prstGeom>
          <a:noFill/>
          <a:ln/>
        </p:spPr>
        <p:txBody>
          <a:bodyPr wrap="square" lIns="0" tIns="0" rIns="0" bIns="0" rtlCol="0" anchor="t"/>
          <a:lstStyle/>
          <a:p>
            <a:pPr marL="0" indent="0">
              <a:lnSpc>
                <a:spcPts val="3100"/>
              </a:lnSpc>
              <a:buNone/>
            </a:pPr>
            <a:r>
              <a:rPr lang="en-US" sz="1900" dirty="0">
                <a:solidFill>
                  <a:srgbClr val="CFCBBF"/>
                </a:solidFill>
                <a:latin typeface="Raleway" pitchFamily="34" charset="0"/>
                <a:ea typeface="Raleway" pitchFamily="34" charset="-122"/>
                <a:cs typeface="Raleway" pitchFamily="34" charset="-120"/>
              </a:rPr>
              <a:t>The volunteer service at Guru Nanak Netarheen Bridh Ashram yielded remarkable outcomes by directly addressing the identified issues of accessibility, social inclusion, and emotional well-being. The positive feedback from all stakeholders underscores the effectiveness of the project, and the continuity of efforts ensures the perpetuation of these positive changes in the lives of the visually impaired elderly residents.</a:t>
            </a:r>
            <a:endParaRPr lang="en-US" sz="1900" dirty="0"/>
          </a:p>
        </p:txBody>
      </p:sp>
      <p:sp>
        <p:nvSpPr>
          <p:cNvPr id="7" name="Rectangle 6">
            <a:extLst>
              <a:ext uri="{FF2B5EF4-FFF2-40B4-BE49-F238E27FC236}">
                <a16:creationId xmlns:a16="http://schemas.microsoft.com/office/drawing/2014/main" id="{F42FB640-A92F-3A47-4EC0-FE55CDFD1259}"/>
              </a:ext>
            </a:extLst>
          </p:cNvPr>
          <p:cNvSpPr/>
          <p:nvPr/>
        </p:nvSpPr>
        <p:spPr>
          <a:xfrm>
            <a:off x="12878718" y="7821976"/>
            <a:ext cx="1619480" cy="27542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By BOCOUM</a:t>
            </a:r>
            <a:endParaRPr lang="en-IN"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168</TotalTime>
  <Words>529</Words>
  <Application>Microsoft Office PowerPoint</Application>
  <PresentationFormat>Custom</PresentationFormat>
  <Paragraphs>62</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Prata</vt:lpstr>
      <vt:lpstr>Raleway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Kola Bocoum</cp:lastModifiedBy>
  <cp:revision>5</cp:revision>
  <dcterms:created xsi:type="dcterms:W3CDTF">2024-09-25T13:47:22Z</dcterms:created>
  <dcterms:modified xsi:type="dcterms:W3CDTF">2025-11-06T17:29:51Z</dcterms:modified>
</cp:coreProperties>
</file>